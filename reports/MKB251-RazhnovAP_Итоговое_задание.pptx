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roxima Nov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AA868F-7CFB-42DF-91E8-6444F7D2DF13}">
  <a:tblStyle styleId="{BBAA868F-7CFB-42DF-91E8-6444F7D2DF1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00"/>
              <a:t>Титульный слайд</a:t>
            </a:r>
            <a:endParaRPr sz="1200"/>
          </a:p>
        </p:txBody>
      </p:sp>
      <p:sp>
        <p:nvSpPr>
          <p:cNvPr id="106" name="Google Shape;106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00"/>
              <a:t>Титульный слайд</a:t>
            </a:r>
            <a:endParaRPr sz="1200"/>
          </a:p>
        </p:txBody>
      </p:sp>
      <p:sp>
        <p:nvSpPr>
          <p:cNvPr id="119" name="Google Shape;11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Результаты: artifacts/report.json, external_report.json, categories_report.json, data_report.json. Источники: https://spamassassin.apache.org/old/publiccorpus/ ; https://www2.aueb.gr/users/ion/data/enron-spam/ ; https://www2.aueb.gr/users/ion/data/lingspam_public.tar.gz ; https://huggingface.co/datasets/imnim/multiclass-email-classification . Корпус тем синтетический. Внешний teacher-test отсутствует по указанной ссылке.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130" name="Google Shape;13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Результаты: artifacts/report.json, external_report.json, categories_report.json, data_report.json. Источники: https://spamassassin.apache.org/old/publiccorpus/ ; https://www2.aueb.gr/users/ion/data/enron-spam/ ; https://www2.aueb.gr/users/ion/data/lingspam_public.tar.gz ; https://huggingface.co/datasets/imnim/multiclass-email-classification . Корпус тем синтетический. Внешний teacher-test отсутствует по указанной ссылке.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138" name="Google Shape;13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Результаты: artifacts/report.json, external_report.json, categories_report.json, data_report.json. Источники: https://spamassassin.apache.org/old/publiccorpus/ ; https://www2.aueb.gr/users/ion/data/enron-spam/ ; https://www2.aueb.gr/users/ion/data/lingspam_public.tar.gz ; https://huggingface.co/datasets/imnim/multiclass-email-classification . Корпус тем синтетический. Внешний teacher-test отсутствует по указанной ссылке.</a:t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Результаты: artifacts/report.json, external_report.json, categories_report.json, data_report.json. Источники: https://spamassassin.apache.org/old/publiccorpus/ ; https://www2.aueb.gr/users/ion/data/enron-spam/ ; https://www2.aueb.gr/users/ion/data/lingspam_public.tar.gz ; https://huggingface.co/datasets/imnim/multiclass-email-classification . Корпус тем синтетический. Внешний teacher-test отсутствует по указанной ссылке.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00"/>
              <a:t>Результаты: artifacts/report.json, external_report.json, categories_report.json, data_report.json. Источники: https://spamassassin.apache.org/old/publiccorpus/ ; https://www2.aueb.gr/users/ion/data/enron-spam/ ; https://www2.aueb.gr/users/ion/data/lingspam_public.tar.gz ; https://huggingface.co/datasets/imnim/multiclass-email-classification . Корпус тем синтетический. Внешний teacher-test отсутствует по указанной ссылке.</a:t>
            </a:r>
            <a:endParaRPr sz="1200"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Результаты: artifacts/report.json, external_report.json, categories_report.json, data_report.json. Источники: https://spamassassin.apache.org/old/publiccorpus/ ; https://www2.aueb.gr/users/ion/data/enron-spam/ ; https://www2.aueb.gr/users/ion/data/lingspam_public.tar.gz ; https://huggingface.co/datasets/imnim/multiclass-email-classification . Корпус тем синтетический. Внешний teacher-test отсутствует по указанной ссылке.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rgbClr val="0B0B0B"/>
                </a:solidFill>
                <a:latin typeface="Proxima Nova"/>
                <a:ea typeface="Proxima Nova"/>
                <a:cs typeface="Proxima Nova"/>
                <a:sym typeface="Proxima Nova"/>
              </a:rPr>
              <a:t>Результаты: artifacts/report.json, external_report.json, categories_report.json, data_report.json. Источники: https://spamassassin.apache.org/old/publiccorpus/ ; https://www2.aueb.gr/users/ion/data/enron-spam/ ; https://www2.aueb.gr/users/ion/data/lingspam_public.tar.gz ; https://huggingface.co/datasets/imnim/multiclass-email-classification . Корпус тем синтетический. Внешний teacher-test отсутствует по указанной ссылке.</a:t>
            </a:r>
            <a:endParaRPr>
              <a:solidFill>
                <a:srgbClr val="0B0B0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0" name="Google Shape;18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Результаты: artifacts/report.json, external_report.json, categories_report.json, data_report.json. Источники: https://spamassassin.apache.org/old/publiccorpus/ ; https://www2.aueb.gr/users/ion/data/enron-spam/ ; https://www2.aueb.gr/users/ion/data/lingspam_public.tar.gz ; https://huggingface.co/datasets/imnim/multiclass-email-classification . Корпус тем синтетический. Внешний teacher-test отсутствует по указанной ссылке.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187" name="Google Shape;18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Результаты: artifacts/report.json, external_report.json, categories_report.json, data_report.json. Источники: https://spamassassin.apache.org/old/publiccorpus/ ; https://www2.aueb.gr/users/ion/data/enron-spam/ ; https://www2.aueb.gr/users/ion/data/lingspam_public.tar.gz ; https://huggingface.co/datasets/imnim/multiclass-email-classification . Корпус тем синтетический. Внешний teacher-test отсутствует по указанной ссылке.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194" name="Google Shape;19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Результаты: artifacts/report.json, external_report.json, categories_report.json, data_report.json. Источники: https://spamassassin.apache.org/old/publiccorpus/ ; https://www2.aueb.gr/users/ion/data/enron-spam/ ; https://www2.aueb.gr/users/ion/data/lingspam_public.tar.gz ; https://huggingface.co/datasets/imnim/multiclass-email-classification . Корпус тем синтетический. Внешний teacher-test отсутствует по указанной ссылке.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201" name="Google Shape;20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Результаты: artifacts/report.json, external_report.json, categories_report.json, data_report.json. Источники: https://spamassassin.apache.org/old/publiccorpus/ ; https://www2.aueb.gr/users/ion/data/enron-spam/ ; https://www2.aueb.gr/users/ion/data/lingspam_public.tar.gz ; https://huggingface.co/datasets/imnim/multiclass-email-classification . Корпус тем синтетический. Внешний teacher-test отсутствует по указанной ссылке.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208" name="Google Shape;20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Результаты: artifacts/report.json, external_report.json, categories_report.json, data_report.json. Источники: https://spamassassin.apache.org/old/publiccorpus/ ; https://www2.aueb.gr/users/ion/data/enron-spam/ ; https://www2.aueb.gr/users/ion/data/lingspam_public.tar.gz ; https://huggingface.co/datasets/imnim/multiclass-email-classification . Корпус тем синтетический. Внешний teacher-test отсутствует по указанной ссылке.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215" name="Google Shape;21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Результаты: artifacts/report.json, external_report.json, categories_report.json, data_report.json. Источники: https://spamassassin.apache.org/old/publiccorpus/ ; https://www2.aueb.gr/users/ion/data/enron-spam/ ; https://www2.aueb.gr/users/ion/data/lingspam_public.tar.gz ; https://huggingface.co/datasets/imnim/multiclass-email-classification . Корпус тем синтетический. Внешний teacher-test отсутствует по указанной ссылке.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3" name="Google Shape;22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Результаты: artifacts/report.json, external_report.json, categories_report.json, data_report.json. Источники: https://spamassassin.apache.org/old/publiccorpus/ ; https://www2.aueb.gr/users/ion/data/enron-spam/ ; https://www2.aueb.gr/users/ion/data/lingspam_public.tar.gz ; https://huggingface.co/datasets/imnim/multiclass-email-classification . Корпус тем синтетический. Внешний teacher-test отсутствует по указанной ссылке.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0" name="Google Shape;23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00"/>
              <a:t>Титульный слайд</a:t>
            </a:r>
            <a:endParaRPr sz="1200"/>
          </a:p>
        </p:txBody>
      </p:sp>
      <p:sp>
        <p:nvSpPr>
          <p:cNvPr id="237" name="Google Shape;23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Титульник neo">
  <p:cSld name="12. Титульник neo">
    <p:bg>
      <p:bgPr>
        <a:solidFill>
          <a:schemeClr val="accent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6531775" y="0"/>
            <a:ext cx="5214899" cy="5143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1331509" y="18000"/>
            <a:ext cx="5200200" cy="5129399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569715" y="4644201"/>
            <a:ext cx="123500" cy="126366"/>
          </a:xfrm>
          <a:custGeom>
            <a:rect b="b" l="l" r="r" t="t"/>
            <a:pathLst>
              <a:path extrusionOk="0" h="14893" w="14893">
                <a:moveTo>
                  <a:pt x="8005" y="0"/>
                </a:moveTo>
                <a:cubicBezTo>
                  <a:pt x="7819" y="0"/>
                  <a:pt x="7632" y="0"/>
                  <a:pt x="7446" y="0"/>
                </a:cubicBezTo>
                <a:cubicBezTo>
                  <a:pt x="3351" y="0"/>
                  <a:pt x="0" y="3258"/>
                  <a:pt x="0" y="7446"/>
                </a:cubicBezTo>
                <a:cubicBezTo>
                  <a:pt x="0" y="11542"/>
                  <a:pt x="3351" y="14892"/>
                  <a:pt x="7446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7074"/>
                  <a:pt x="14799" y="6795"/>
                  <a:pt x="14799" y="6515"/>
                </a:cubicBezTo>
                <a:cubicBezTo>
                  <a:pt x="11262" y="6236"/>
                  <a:pt x="8470" y="3444"/>
                  <a:pt x="8005" y="0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8569715" y="4505200"/>
            <a:ext cx="123500" cy="126366"/>
          </a:xfrm>
          <a:custGeom>
            <a:rect b="b" l="l" r="r" t="t"/>
            <a:pathLst>
              <a:path extrusionOk="0" h="14893" w="14893">
                <a:moveTo>
                  <a:pt x="14893" y="7447"/>
                </a:moveTo>
                <a:cubicBezTo>
                  <a:pt x="14893" y="3351"/>
                  <a:pt x="11542" y="0"/>
                  <a:pt x="7446" y="0"/>
                </a:cubicBezTo>
                <a:cubicBezTo>
                  <a:pt x="3351" y="0"/>
                  <a:pt x="0" y="3351"/>
                  <a:pt x="0" y="7447"/>
                </a:cubicBezTo>
                <a:cubicBezTo>
                  <a:pt x="0" y="11542"/>
                  <a:pt x="3351" y="14893"/>
                  <a:pt x="7446" y="14893"/>
                </a:cubicBezTo>
                <a:cubicBezTo>
                  <a:pt x="7632" y="14893"/>
                  <a:pt x="7819" y="14893"/>
                  <a:pt x="8005" y="14893"/>
                </a:cubicBezTo>
                <a:cubicBezTo>
                  <a:pt x="8284" y="11170"/>
                  <a:pt x="11169" y="8284"/>
                  <a:pt x="14799" y="8005"/>
                </a:cubicBezTo>
                <a:cubicBezTo>
                  <a:pt x="14799" y="7819"/>
                  <a:pt x="14893" y="7633"/>
                  <a:pt x="14893" y="7447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704783" y="4505200"/>
            <a:ext cx="123508" cy="126366"/>
          </a:xfrm>
          <a:custGeom>
            <a:rect b="b" l="l" r="r" t="t"/>
            <a:pathLst>
              <a:path extrusionOk="0" h="14893" w="14894">
                <a:moveTo>
                  <a:pt x="6516" y="14800"/>
                </a:moveTo>
                <a:cubicBezTo>
                  <a:pt x="6795" y="14893"/>
                  <a:pt x="7075" y="14893"/>
                  <a:pt x="7447" y="14893"/>
                </a:cubicBezTo>
                <a:cubicBezTo>
                  <a:pt x="11542" y="14893"/>
                  <a:pt x="14893" y="11542"/>
                  <a:pt x="14893" y="7447"/>
                </a:cubicBezTo>
                <a:cubicBezTo>
                  <a:pt x="14893" y="3351"/>
                  <a:pt x="11542" y="0"/>
                  <a:pt x="7447" y="0"/>
                </a:cubicBezTo>
                <a:cubicBezTo>
                  <a:pt x="3351" y="0"/>
                  <a:pt x="1" y="3351"/>
                  <a:pt x="1" y="7447"/>
                </a:cubicBezTo>
                <a:cubicBezTo>
                  <a:pt x="1" y="7633"/>
                  <a:pt x="1" y="7819"/>
                  <a:pt x="1" y="8005"/>
                </a:cubicBezTo>
                <a:cubicBezTo>
                  <a:pt x="3538" y="8470"/>
                  <a:pt x="6237" y="11263"/>
                  <a:pt x="6516" y="14800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8704783" y="4644201"/>
            <a:ext cx="123508" cy="126366"/>
          </a:xfrm>
          <a:custGeom>
            <a:rect b="b" l="l" r="r" t="t"/>
            <a:pathLst>
              <a:path extrusionOk="0" h="14893" w="14894">
                <a:moveTo>
                  <a:pt x="94" y="6422"/>
                </a:moveTo>
                <a:cubicBezTo>
                  <a:pt x="1" y="6795"/>
                  <a:pt x="1" y="7074"/>
                  <a:pt x="1" y="7446"/>
                </a:cubicBezTo>
                <a:cubicBezTo>
                  <a:pt x="1" y="11542"/>
                  <a:pt x="3351" y="14892"/>
                  <a:pt x="7447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3258"/>
                  <a:pt x="11542" y="0"/>
                  <a:pt x="7447" y="0"/>
                </a:cubicBezTo>
                <a:cubicBezTo>
                  <a:pt x="7075" y="0"/>
                  <a:pt x="6795" y="0"/>
                  <a:pt x="6423" y="0"/>
                </a:cubicBezTo>
                <a:cubicBezTo>
                  <a:pt x="6051" y="3351"/>
                  <a:pt x="3351" y="6050"/>
                  <a:pt x="94" y="6422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Фон">
  <p:cSld name="1.Фон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. Фон dark">
  <p:cSld name="1_11. Фон dark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Определение">
  <p:cSld name="2.Определение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cap="flat" cmpd="sng" w="1905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cap="flat" cmpd="sng" w="1905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5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cap="flat" cmpd="sng" w="25400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Титульник wihte">
  <p:cSld name="3.Титульник wihte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/>
          <p:nvPr/>
        </p:nvSpPr>
        <p:spPr>
          <a:xfrm>
            <a:off x="6531775" y="0"/>
            <a:ext cx="5214899" cy="51435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6"/>
          <p:cNvSpPr/>
          <p:nvPr/>
        </p:nvSpPr>
        <p:spPr>
          <a:xfrm>
            <a:off x="1331509" y="18000"/>
            <a:ext cx="5200200" cy="5129399"/>
          </a:xfrm>
          <a:prstGeom prst="ellipse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"/>
          <p:cNvSpPr/>
          <p:nvPr/>
        </p:nvSpPr>
        <p:spPr>
          <a:xfrm>
            <a:off x="8569715" y="4675460"/>
            <a:ext cx="123500" cy="126366"/>
          </a:xfrm>
          <a:custGeom>
            <a:rect b="b" l="l" r="r" t="t"/>
            <a:pathLst>
              <a:path extrusionOk="0" h="14893" w="14893">
                <a:moveTo>
                  <a:pt x="8005" y="0"/>
                </a:moveTo>
                <a:cubicBezTo>
                  <a:pt x="7819" y="0"/>
                  <a:pt x="7632" y="0"/>
                  <a:pt x="7446" y="0"/>
                </a:cubicBezTo>
                <a:cubicBezTo>
                  <a:pt x="3351" y="0"/>
                  <a:pt x="0" y="3258"/>
                  <a:pt x="0" y="7446"/>
                </a:cubicBezTo>
                <a:cubicBezTo>
                  <a:pt x="0" y="11542"/>
                  <a:pt x="3351" y="14892"/>
                  <a:pt x="7446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7074"/>
                  <a:pt x="14799" y="6795"/>
                  <a:pt x="14799" y="6515"/>
                </a:cubicBezTo>
                <a:cubicBezTo>
                  <a:pt x="11262" y="6236"/>
                  <a:pt x="8470" y="3444"/>
                  <a:pt x="800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6"/>
          <p:cNvSpPr/>
          <p:nvPr/>
        </p:nvSpPr>
        <p:spPr>
          <a:xfrm>
            <a:off x="8569715" y="4536459"/>
            <a:ext cx="123500" cy="126366"/>
          </a:xfrm>
          <a:custGeom>
            <a:rect b="b" l="l" r="r" t="t"/>
            <a:pathLst>
              <a:path extrusionOk="0" h="14893" w="14893">
                <a:moveTo>
                  <a:pt x="14893" y="7447"/>
                </a:moveTo>
                <a:cubicBezTo>
                  <a:pt x="14893" y="3351"/>
                  <a:pt x="11542" y="0"/>
                  <a:pt x="7446" y="0"/>
                </a:cubicBezTo>
                <a:cubicBezTo>
                  <a:pt x="3351" y="0"/>
                  <a:pt x="0" y="3351"/>
                  <a:pt x="0" y="7447"/>
                </a:cubicBezTo>
                <a:cubicBezTo>
                  <a:pt x="0" y="11542"/>
                  <a:pt x="3351" y="14893"/>
                  <a:pt x="7446" y="14893"/>
                </a:cubicBezTo>
                <a:cubicBezTo>
                  <a:pt x="7632" y="14893"/>
                  <a:pt x="7819" y="14893"/>
                  <a:pt x="8005" y="14893"/>
                </a:cubicBezTo>
                <a:cubicBezTo>
                  <a:pt x="8284" y="11170"/>
                  <a:pt x="11169" y="8284"/>
                  <a:pt x="14799" y="8005"/>
                </a:cubicBezTo>
                <a:cubicBezTo>
                  <a:pt x="14799" y="7819"/>
                  <a:pt x="14893" y="7633"/>
                  <a:pt x="14893" y="744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8704783" y="4536459"/>
            <a:ext cx="123508" cy="126366"/>
          </a:xfrm>
          <a:custGeom>
            <a:rect b="b" l="l" r="r" t="t"/>
            <a:pathLst>
              <a:path extrusionOk="0" h="14893" w="14894">
                <a:moveTo>
                  <a:pt x="6516" y="14800"/>
                </a:moveTo>
                <a:cubicBezTo>
                  <a:pt x="6795" y="14893"/>
                  <a:pt x="7075" y="14893"/>
                  <a:pt x="7447" y="14893"/>
                </a:cubicBezTo>
                <a:cubicBezTo>
                  <a:pt x="11542" y="14893"/>
                  <a:pt x="14893" y="11542"/>
                  <a:pt x="14893" y="7447"/>
                </a:cubicBezTo>
                <a:cubicBezTo>
                  <a:pt x="14893" y="3351"/>
                  <a:pt x="11542" y="0"/>
                  <a:pt x="7447" y="0"/>
                </a:cubicBezTo>
                <a:cubicBezTo>
                  <a:pt x="3351" y="0"/>
                  <a:pt x="1" y="3351"/>
                  <a:pt x="1" y="7447"/>
                </a:cubicBezTo>
                <a:cubicBezTo>
                  <a:pt x="1" y="7633"/>
                  <a:pt x="1" y="7819"/>
                  <a:pt x="1" y="8005"/>
                </a:cubicBezTo>
                <a:cubicBezTo>
                  <a:pt x="3538" y="8470"/>
                  <a:pt x="6237" y="11263"/>
                  <a:pt x="6516" y="148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6"/>
          <p:cNvSpPr/>
          <p:nvPr/>
        </p:nvSpPr>
        <p:spPr>
          <a:xfrm>
            <a:off x="8704783" y="4675460"/>
            <a:ext cx="123508" cy="126366"/>
          </a:xfrm>
          <a:custGeom>
            <a:rect b="b" l="l" r="r" t="t"/>
            <a:pathLst>
              <a:path extrusionOk="0" h="14893" w="14894">
                <a:moveTo>
                  <a:pt x="94" y="6422"/>
                </a:moveTo>
                <a:cubicBezTo>
                  <a:pt x="1" y="6795"/>
                  <a:pt x="1" y="7074"/>
                  <a:pt x="1" y="7446"/>
                </a:cubicBezTo>
                <a:cubicBezTo>
                  <a:pt x="1" y="11542"/>
                  <a:pt x="3351" y="14892"/>
                  <a:pt x="7447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3258"/>
                  <a:pt x="11542" y="0"/>
                  <a:pt x="7447" y="0"/>
                </a:cubicBezTo>
                <a:cubicBezTo>
                  <a:pt x="7075" y="0"/>
                  <a:pt x="6795" y="0"/>
                  <a:pt x="6423" y="0"/>
                </a:cubicBezTo>
                <a:cubicBezTo>
                  <a:pt x="6051" y="3351"/>
                  <a:pt x="3351" y="6050"/>
                  <a:pt x="94" y="642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Отбивка wihte">
  <p:cSld name="4.Отбивка wihte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5737860" y="0"/>
            <a:ext cx="1697850" cy="1699200"/>
          </a:xfrm>
          <a:prstGeom prst="ellipse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7"/>
          <p:cNvSpPr/>
          <p:nvPr/>
        </p:nvSpPr>
        <p:spPr>
          <a:xfrm>
            <a:off x="7446150" y="0"/>
            <a:ext cx="1697850" cy="1699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7"/>
          <p:cNvSpPr/>
          <p:nvPr/>
        </p:nvSpPr>
        <p:spPr>
          <a:xfrm>
            <a:off x="5737860" y="1722150"/>
            <a:ext cx="1697850" cy="1699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7"/>
          <p:cNvSpPr/>
          <p:nvPr/>
        </p:nvSpPr>
        <p:spPr>
          <a:xfrm>
            <a:off x="7446150" y="1722150"/>
            <a:ext cx="1697850" cy="1699200"/>
          </a:xfrm>
          <a:prstGeom prst="ellipse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7"/>
          <p:cNvSpPr/>
          <p:nvPr/>
        </p:nvSpPr>
        <p:spPr>
          <a:xfrm>
            <a:off x="5737860" y="3429000"/>
            <a:ext cx="1697850" cy="1699200"/>
          </a:xfrm>
          <a:prstGeom prst="ellipse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7"/>
          <p:cNvSpPr/>
          <p:nvPr/>
        </p:nvSpPr>
        <p:spPr>
          <a:xfrm>
            <a:off x="7446150" y="3429000"/>
            <a:ext cx="1697850" cy="1699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Определение wihte">
  <p:cSld name="5. Определение wihte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8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F3F4F7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Титульник dark">
  <p:cSld name="6.Титульник dark">
    <p:bg>
      <p:bgPr>
        <a:solidFill>
          <a:schemeClr val="lt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6531775" y="0"/>
            <a:ext cx="5214899" cy="5143500"/>
          </a:xfrm>
          <a:prstGeom prst="ellipse">
            <a:avLst/>
          </a:prstGeom>
          <a:solidFill>
            <a:srgbClr val="2F3035"/>
          </a:solidFill>
          <a:ln cap="flat" cmpd="sng" w="9525">
            <a:solidFill>
              <a:srgbClr val="2F3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9"/>
          <p:cNvSpPr/>
          <p:nvPr/>
        </p:nvSpPr>
        <p:spPr>
          <a:xfrm>
            <a:off x="1331509" y="18000"/>
            <a:ext cx="5200200" cy="5129399"/>
          </a:xfrm>
          <a:prstGeom prst="ellipse">
            <a:avLst/>
          </a:prstGeom>
          <a:noFill/>
          <a:ln cap="flat" cmpd="sng" w="19050">
            <a:solidFill>
              <a:srgbClr val="2F3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9"/>
          <p:cNvSpPr/>
          <p:nvPr/>
        </p:nvSpPr>
        <p:spPr>
          <a:xfrm>
            <a:off x="8569715" y="4644200"/>
            <a:ext cx="123500" cy="126366"/>
          </a:xfrm>
          <a:custGeom>
            <a:rect b="b" l="l" r="r" t="t"/>
            <a:pathLst>
              <a:path extrusionOk="0" h="14893" w="14893">
                <a:moveTo>
                  <a:pt x="8005" y="0"/>
                </a:moveTo>
                <a:cubicBezTo>
                  <a:pt x="7819" y="0"/>
                  <a:pt x="7632" y="0"/>
                  <a:pt x="7446" y="0"/>
                </a:cubicBezTo>
                <a:cubicBezTo>
                  <a:pt x="3351" y="0"/>
                  <a:pt x="0" y="3258"/>
                  <a:pt x="0" y="7446"/>
                </a:cubicBezTo>
                <a:cubicBezTo>
                  <a:pt x="0" y="11542"/>
                  <a:pt x="3351" y="14892"/>
                  <a:pt x="7446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7074"/>
                  <a:pt x="14799" y="6795"/>
                  <a:pt x="14799" y="6515"/>
                </a:cubicBezTo>
                <a:cubicBezTo>
                  <a:pt x="11262" y="6236"/>
                  <a:pt x="8470" y="3444"/>
                  <a:pt x="8005" y="0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9"/>
          <p:cNvSpPr/>
          <p:nvPr/>
        </p:nvSpPr>
        <p:spPr>
          <a:xfrm>
            <a:off x="8569715" y="4505199"/>
            <a:ext cx="123500" cy="126366"/>
          </a:xfrm>
          <a:custGeom>
            <a:rect b="b" l="l" r="r" t="t"/>
            <a:pathLst>
              <a:path extrusionOk="0" h="14893" w="14893">
                <a:moveTo>
                  <a:pt x="14893" y="7447"/>
                </a:moveTo>
                <a:cubicBezTo>
                  <a:pt x="14893" y="3351"/>
                  <a:pt x="11542" y="0"/>
                  <a:pt x="7446" y="0"/>
                </a:cubicBezTo>
                <a:cubicBezTo>
                  <a:pt x="3351" y="0"/>
                  <a:pt x="0" y="3351"/>
                  <a:pt x="0" y="7447"/>
                </a:cubicBezTo>
                <a:cubicBezTo>
                  <a:pt x="0" y="11542"/>
                  <a:pt x="3351" y="14893"/>
                  <a:pt x="7446" y="14893"/>
                </a:cubicBezTo>
                <a:cubicBezTo>
                  <a:pt x="7632" y="14893"/>
                  <a:pt x="7819" y="14893"/>
                  <a:pt x="8005" y="14893"/>
                </a:cubicBezTo>
                <a:cubicBezTo>
                  <a:pt x="8284" y="11170"/>
                  <a:pt x="11169" y="8284"/>
                  <a:pt x="14799" y="8005"/>
                </a:cubicBezTo>
                <a:cubicBezTo>
                  <a:pt x="14799" y="7819"/>
                  <a:pt x="14893" y="7633"/>
                  <a:pt x="14893" y="7447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9"/>
          <p:cNvSpPr/>
          <p:nvPr/>
        </p:nvSpPr>
        <p:spPr>
          <a:xfrm>
            <a:off x="8704783" y="4505199"/>
            <a:ext cx="123508" cy="126366"/>
          </a:xfrm>
          <a:custGeom>
            <a:rect b="b" l="l" r="r" t="t"/>
            <a:pathLst>
              <a:path extrusionOk="0" h="14893" w="14894">
                <a:moveTo>
                  <a:pt x="6516" y="14800"/>
                </a:moveTo>
                <a:cubicBezTo>
                  <a:pt x="6795" y="14893"/>
                  <a:pt x="7075" y="14893"/>
                  <a:pt x="7447" y="14893"/>
                </a:cubicBezTo>
                <a:cubicBezTo>
                  <a:pt x="11542" y="14893"/>
                  <a:pt x="14893" y="11542"/>
                  <a:pt x="14893" y="7447"/>
                </a:cubicBezTo>
                <a:cubicBezTo>
                  <a:pt x="14893" y="3351"/>
                  <a:pt x="11542" y="0"/>
                  <a:pt x="7447" y="0"/>
                </a:cubicBezTo>
                <a:cubicBezTo>
                  <a:pt x="3351" y="0"/>
                  <a:pt x="1" y="3351"/>
                  <a:pt x="1" y="7447"/>
                </a:cubicBezTo>
                <a:cubicBezTo>
                  <a:pt x="1" y="7633"/>
                  <a:pt x="1" y="7819"/>
                  <a:pt x="1" y="8005"/>
                </a:cubicBezTo>
                <a:cubicBezTo>
                  <a:pt x="3538" y="8470"/>
                  <a:pt x="6237" y="11263"/>
                  <a:pt x="6516" y="14800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9"/>
          <p:cNvSpPr/>
          <p:nvPr/>
        </p:nvSpPr>
        <p:spPr>
          <a:xfrm>
            <a:off x="8704783" y="4644200"/>
            <a:ext cx="123508" cy="126366"/>
          </a:xfrm>
          <a:custGeom>
            <a:rect b="b" l="l" r="r" t="t"/>
            <a:pathLst>
              <a:path extrusionOk="0" h="14893" w="14894">
                <a:moveTo>
                  <a:pt x="94" y="6422"/>
                </a:moveTo>
                <a:cubicBezTo>
                  <a:pt x="1" y="6795"/>
                  <a:pt x="1" y="7074"/>
                  <a:pt x="1" y="7446"/>
                </a:cubicBezTo>
                <a:cubicBezTo>
                  <a:pt x="1" y="11542"/>
                  <a:pt x="3351" y="14892"/>
                  <a:pt x="7447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3258"/>
                  <a:pt x="11542" y="0"/>
                  <a:pt x="7447" y="0"/>
                </a:cubicBezTo>
                <a:cubicBezTo>
                  <a:pt x="7075" y="0"/>
                  <a:pt x="6795" y="0"/>
                  <a:pt x="6423" y="0"/>
                </a:cubicBezTo>
                <a:cubicBezTo>
                  <a:pt x="6051" y="3351"/>
                  <a:pt x="3351" y="6050"/>
                  <a:pt x="94" y="6422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Отбивка dark">
  <p:cSld name="7. Отбивка dark">
    <p:bg>
      <p:bgPr>
        <a:solidFill>
          <a:schemeClr val="lt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5737860" y="0"/>
            <a:ext cx="1697850" cy="1699200"/>
          </a:xfrm>
          <a:prstGeom prst="ellipse">
            <a:avLst/>
          </a:prstGeom>
          <a:noFill/>
          <a:ln cap="flat" cmpd="sng" w="19050">
            <a:solidFill>
              <a:srgbClr val="2F3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0"/>
          <p:cNvSpPr/>
          <p:nvPr/>
        </p:nvSpPr>
        <p:spPr>
          <a:xfrm>
            <a:off x="7446150" y="0"/>
            <a:ext cx="1697850" cy="1699200"/>
          </a:xfrm>
          <a:prstGeom prst="ellipse">
            <a:avLst/>
          </a:prstGeom>
          <a:solidFill>
            <a:srgbClr val="2F3035"/>
          </a:solidFill>
          <a:ln cap="flat" cmpd="sng" w="28575">
            <a:solidFill>
              <a:srgbClr val="2F3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0"/>
          <p:cNvSpPr/>
          <p:nvPr/>
        </p:nvSpPr>
        <p:spPr>
          <a:xfrm>
            <a:off x="5737860" y="1722150"/>
            <a:ext cx="1697850" cy="1699200"/>
          </a:xfrm>
          <a:prstGeom prst="ellipse">
            <a:avLst/>
          </a:prstGeom>
          <a:solidFill>
            <a:srgbClr val="2F3035"/>
          </a:solidFill>
          <a:ln cap="flat" cmpd="sng" w="28575">
            <a:solidFill>
              <a:srgbClr val="2F3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"/>
          <p:cNvSpPr/>
          <p:nvPr/>
        </p:nvSpPr>
        <p:spPr>
          <a:xfrm>
            <a:off x="7446150" y="1722150"/>
            <a:ext cx="1697850" cy="1699200"/>
          </a:xfrm>
          <a:prstGeom prst="ellipse">
            <a:avLst/>
          </a:prstGeom>
          <a:noFill/>
          <a:ln cap="flat" cmpd="sng" w="19050">
            <a:solidFill>
              <a:srgbClr val="2F3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0"/>
          <p:cNvSpPr/>
          <p:nvPr/>
        </p:nvSpPr>
        <p:spPr>
          <a:xfrm>
            <a:off x="5737860" y="3429000"/>
            <a:ext cx="1697850" cy="1699200"/>
          </a:xfrm>
          <a:prstGeom prst="ellipse">
            <a:avLst/>
          </a:prstGeom>
          <a:noFill/>
          <a:ln cap="flat" cmpd="sng" w="19050">
            <a:solidFill>
              <a:srgbClr val="2F3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0"/>
          <p:cNvSpPr/>
          <p:nvPr/>
        </p:nvSpPr>
        <p:spPr>
          <a:xfrm>
            <a:off x="7446150" y="3429000"/>
            <a:ext cx="1697850" cy="1699200"/>
          </a:xfrm>
          <a:prstGeom prst="ellipse">
            <a:avLst/>
          </a:prstGeom>
          <a:solidFill>
            <a:srgbClr val="2F3035"/>
          </a:solidFill>
          <a:ln cap="flat" cmpd="sng" w="28575">
            <a:solidFill>
              <a:srgbClr val="2F3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 Определение dark">
  <p:cSld name="8. Определение dark">
    <p:bg>
      <p:bgPr>
        <a:solidFill>
          <a:schemeClr val="l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cap="flat" cmpd="sng" w="19050">
            <a:solidFill>
              <a:srgbClr val="2F3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cap="flat" cmpd="sng" w="19050">
            <a:solidFill>
              <a:srgbClr val="2F3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1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cap="flat" cmpd="sng" w="25400">
            <a:solidFill>
              <a:srgbClr val="2F3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Определение dark">
  <p:cSld name="9. Определение dark"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cap="flat" cmpd="sng" w="19050">
            <a:solidFill>
              <a:srgbClr val="2F3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cap="flat" cmpd="sng" w="19050">
            <a:solidFill>
              <a:srgbClr val="2F3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cap="flat" cmpd="sng" w="254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. Фон dark">
  <p:cSld name="10. Фон dark">
    <p:bg>
      <p:bgPr>
        <a:solidFill>
          <a:schemeClr val="lt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. Титульник pro">
  <p:cSld name="17. Титульник pro">
    <p:bg>
      <p:bgPr>
        <a:solidFill>
          <a:srgbClr val="0066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6531775" y="0"/>
            <a:ext cx="5214899" cy="5143500"/>
          </a:xfrm>
          <a:prstGeom prst="ellipse">
            <a:avLst/>
          </a:prstGeom>
          <a:solidFill>
            <a:srgbClr val="217AFF"/>
          </a:solidFill>
          <a:ln cap="flat" cmpd="sng" w="9525">
            <a:solidFill>
              <a:srgbClr val="217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1331509" y="18000"/>
            <a:ext cx="5200200" cy="5129399"/>
          </a:xfrm>
          <a:prstGeom prst="ellipse">
            <a:avLst/>
          </a:prstGeom>
          <a:noFill/>
          <a:ln cap="flat" cmpd="sng" w="19050">
            <a:solidFill>
              <a:srgbClr val="217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8569715" y="4644200"/>
            <a:ext cx="123500" cy="126366"/>
          </a:xfrm>
          <a:custGeom>
            <a:rect b="b" l="l" r="r" t="t"/>
            <a:pathLst>
              <a:path extrusionOk="0" h="14893" w="14893">
                <a:moveTo>
                  <a:pt x="8005" y="0"/>
                </a:moveTo>
                <a:cubicBezTo>
                  <a:pt x="7819" y="0"/>
                  <a:pt x="7632" y="0"/>
                  <a:pt x="7446" y="0"/>
                </a:cubicBezTo>
                <a:cubicBezTo>
                  <a:pt x="3351" y="0"/>
                  <a:pt x="0" y="3258"/>
                  <a:pt x="0" y="7446"/>
                </a:cubicBezTo>
                <a:cubicBezTo>
                  <a:pt x="0" y="11542"/>
                  <a:pt x="3351" y="14892"/>
                  <a:pt x="7446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7074"/>
                  <a:pt x="14799" y="6795"/>
                  <a:pt x="14799" y="6515"/>
                </a:cubicBezTo>
                <a:cubicBezTo>
                  <a:pt x="11262" y="6236"/>
                  <a:pt x="8470" y="3444"/>
                  <a:pt x="8005" y="0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8569715" y="4505199"/>
            <a:ext cx="123500" cy="126366"/>
          </a:xfrm>
          <a:custGeom>
            <a:rect b="b" l="l" r="r" t="t"/>
            <a:pathLst>
              <a:path extrusionOk="0" h="14893" w="14893">
                <a:moveTo>
                  <a:pt x="14893" y="7447"/>
                </a:moveTo>
                <a:cubicBezTo>
                  <a:pt x="14893" y="3351"/>
                  <a:pt x="11542" y="0"/>
                  <a:pt x="7446" y="0"/>
                </a:cubicBezTo>
                <a:cubicBezTo>
                  <a:pt x="3351" y="0"/>
                  <a:pt x="0" y="3351"/>
                  <a:pt x="0" y="7447"/>
                </a:cubicBezTo>
                <a:cubicBezTo>
                  <a:pt x="0" y="11542"/>
                  <a:pt x="3351" y="14893"/>
                  <a:pt x="7446" y="14893"/>
                </a:cubicBezTo>
                <a:cubicBezTo>
                  <a:pt x="7632" y="14893"/>
                  <a:pt x="7819" y="14893"/>
                  <a:pt x="8005" y="14893"/>
                </a:cubicBezTo>
                <a:cubicBezTo>
                  <a:pt x="8284" y="11170"/>
                  <a:pt x="11169" y="8284"/>
                  <a:pt x="14799" y="8005"/>
                </a:cubicBezTo>
                <a:cubicBezTo>
                  <a:pt x="14799" y="7819"/>
                  <a:pt x="14893" y="7633"/>
                  <a:pt x="14893" y="7447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8704783" y="4505199"/>
            <a:ext cx="123508" cy="126366"/>
          </a:xfrm>
          <a:custGeom>
            <a:rect b="b" l="l" r="r" t="t"/>
            <a:pathLst>
              <a:path extrusionOk="0" h="14893" w="14894">
                <a:moveTo>
                  <a:pt x="6516" y="14800"/>
                </a:moveTo>
                <a:cubicBezTo>
                  <a:pt x="6795" y="14893"/>
                  <a:pt x="7075" y="14893"/>
                  <a:pt x="7447" y="14893"/>
                </a:cubicBezTo>
                <a:cubicBezTo>
                  <a:pt x="11542" y="14893"/>
                  <a:pt x="14893" y="11542"/>
                  <a:pt x="14893" y="7447"/>
                </a:cubicBezTo>
                <a:cubicBezTo>
                  <a:pt x="14893" y="3351"/>
                  <a:pt x="11542" y="0"/>
                  <a:pt x="7447" y="0"/>
                </a:cubicBezTo>
                <a:cubicBezTo>
                  <a:pt x="3351" y="0"/>
                  <a:pt x="1" y="3351"/>
                  <a:pt x="1" y="7447"/>
                </a:cubicBezTo>
                <a:cubicBezTo>
                  <a:pt x="1" y="7633"/>
                  <a:pt x="1" y="7819"/>
                  <a:pt x="1" y="8005"/>
                </a:cubicBezTo>
                <a:cubicBezTo>
                  <a:pt x="3538" y="8470"/>
                  <a:pt x="6237" y="11263"/>
                  <a:pt x="6516" y="14800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8704783" y="4644200"/>
            <a:ext cx="123508" cy="126366"/>
          </a:xfrm>
          <a:custGeom>
            <a:rect b="b" l="l" r="r" t="t"/>
            <a:pathLst>
              <a:path extrusionOk="0" h="14893" w="14894">
                <a:moveTo>
                  <a:pt x="94" y="6422"/>
                </a:moveTo>
                <a:cubicBezTo>
                  <a:pt x="1" y="6795"/>
                  <a:pt x="1" y="7074"/>
                  <a:pt x="1" y="7446"/>
                </a:cubicBezTo>
                <a:cubicBezTo>
                  <a:pt x="1" y="11542"/>
                  <a:pt x="3351" y="14892"/>
                  <a:pt x="7447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3258"/>
                  <a:pt x="11542" y="0"/>
                  <a:pt x="7447" y="0"/>
                </a:cubicBezTo>
                <a:cubicBezTo>
                  <a:pt x="7075" y="0"/>
                  <a:pt x="6795" y="0"/>
                  <a:pt x="6423" y="0"/>
                </a:cubicBezTo>
                <a:cubicBezTo>
                  <a:pt x="6051" y="3351"/>
                  <a:pt x="3351" y="6050"/>
                  <a:pt x="94" y="6422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. Отбивка pro">
  <p:cSld name="18. Отбивка pro">
    <p:bg>
      <p:bgPr>
        <a:solidFill>
          <a:srgbClr val="0066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5737860" y="0"/>
            <a:ext cx="1697850" cy="1699200"/>
          </a:xfrm>
          <a:prstGeom prst="ellipse">
            <a:avLst/>
          </a:prstGeom>
          <a:noFill/>
          <a:ln cap="flat" cmpd="sng" w="19050">
            <a:solidFill>
              <a:srgbClr val="217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7446150" y="0"/>
            <a:ext cx="1697850" cy="1699200"/>
          </a:xfrm>
          <a:prstGeom prst="ellipse">
            <a:avLst/>
          </a:prstGeom>
          <a:solidFill>
            <a:srgbClr val="217AFF"/>
          </a:solidFill>
          <a:ln cap="flat" cmpd="sng" w="28575">
            <a:solidFill>
              <a:srgbClr val="217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737860" y="1722150"/>
            <a:ext cx="1697850" cy="1699200"/>
          </a:xfrm>
          <a:prstGeom prst="ellipse">
            <a:avLst/>
          </a:prstGeom>
          <a:solidFill>
            <a:srgbClr val="217AFF"/>
          </a:solidFill>
          <a:ln cap="flat" cmpd="sng" w="28575">
            <a:solidFill>
              <a:srgbClr val="217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7446150" y="1722150"/>
            <a:ext cx="1697850" cy="1699200"/>
          </a:xfrm>
          <a:prstGeom prst="ellipse">
            <a:avLst/>
          </a:prstGeom>
          <a:noFill/>
          <a:ln cap="flat" cmpd="sng" w="19050">
            <a:solidFill>
              <a:srgbClr val="217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737860" y="3429000"/>
            <a:ext cx="1697850" cy="1699200"/>
          </a:xfrm>
          <a:prstGeom prst="ellipse">
            <a:avLst/>
          </a:prstGeom>
          <a:noFill/>
          <a:ln cap="flat" cmpd="sng" w="19050">
            <a:solidFill>
              <a:srgbClr val="217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7446150" y="3429000"/>
            <a:ext cx="1697850" cy="1699200"/>
          </a:xfrm>
          <a:prstGeom prst="ellipse">
            <a:avLst/>
          </a:prstGeom>
          <a:solidFill>
            <a:srgbClr val="217AFF"/>
          </a:solidFill>
          <a:ln cap="flat" cmpd="sng" w="28575">
            <a:solidFill>
              <a:srgbClr val="217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. Определение pro">
  <p:cSld name="19. Определение pro">
    <p:bg>
      <p:bgPr>
        <a:solidFill>
          <a:srgbClr val="0066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cap="flat" cmpd="sng" w="19050">
            <a:solidFill>
              <a:srgbClr val="217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cap="flat" cmpd="sng" w="19050">
            <a:solidFill>
              <a:srgbClr val="217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217AFF"/>
          </a:solidFill>
          <a:ln cap="flat" cmpd="sng" w="25400">
            <a:solidFill>
              <a:srgbClr val="217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. Отбивка 2 pro">
  <p:cSld name="20. Отбивка 2 pro">
    <p:bg>
      <p:bgPr>
        <a:solidFill>
          <a:srgbClr val="0066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. Отбивка 2 pro">
  <p:cSld name="1_20. Отбивка 2 pro">
    <p:bg>
      <p:bgPr>
        <a:solidFill>
          <a:srgbClr val="0066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. Фон dark 1">
  <p:cSld name="11. Фон dark">
    <p:bg>
      <p:bgPr>
        <a:solidFill>
          <a:schemeClr val="l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. Фон dark 1 1">
  <p:cSld name="11. Фоныыыыыы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. Определение neo">
  <p:cSld name="14. Определение neo">
    <p:bg>
      <p:bgPr>
        <a:solidFill>
          <a:schemeClr val="accent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. Определение neo 1">
  <p:cSld name="14. Определение">
    <p:bg>
      <p:bgPr>
        <a:solidFill>
          <a:schemeClr val="accen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. Отбивка 2 neo">
  <p:cSld name="15. Отбивка 2 neo">
    <p:bg>
      <p:bgPr>
        <a:solidFill>
          <a:schemeClr val="accent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3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. Фон neo">
  <p:cSld name="16. Фон neo">
    <p:bg>
      <p:bgPr>
        <a:solidFill>
          <a:schemeClr val="accent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. Фон neo 1">
  <p:cSld name="16. Фон ">
    <p:bg>
      <p:bgPr>
        <a:solidFill>
          <a:schemeClr val="accent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Andrey123654/antispam-ml" TargetMode="External"/><Relationship Id="rId4" Type="http://schemas.openxmlformats.org/officeDocument/2006/relationships/hyperlink" Target="https://github.com/Andrey123654/Hakaton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mkb251-razhnovap-antispam.onrender.com" TargetMode="External"/><Relationship Id="rId4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8549243" y="4675459"/>
            <a:ext cx="123500" cy="126366"/>
          </a:xfrm>
          <a:custGeom>
            <a:rect b="b" l="l" r="r" t="t"/>
            <a:pathLst>
              <a:path extrusionOk="0" h="14893" w="14893">
                <a:moveTo>
                  <a:pt x="8005" y="0"/>
                </a:moveTo>
                <a:cubicBezTo>
                  <a:pt x="7819" y="0"/>
                  <a:pt x="7632" y="0"/>
                  <a:pt x="7446" y="0"/>
                </a:cubicBezTo>
                <a:cubicBezTo>
                  <a:pt x="3351" y="0"/>
                  <a:pt x="0" y="3258"/>
                  <a:pt x="0" y="7446"/>
                </a:cubicBezTo>
                <a:cubicBezTo>
                  <a:pt x="0" y="11542"/>
                  <a:pt x="3351" y="14892"/>
                  <a:pt x="7446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7074"/>
                  <a:pt x="14799" y="6795"/>
                  <a:pt x="14799" y="6515"/>
                </a:cubicBezTo>
                <a:cubicBezTo>
                  <a:pt x="11262" y="6236"/>
                  <a:pt x="8470" y="3444"/>
                  <a:pt x="8005" y="0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6"/>
          <p:cNvSpPr/>
          <p:nvPr/>
        </p:nvSpPr>
        <p:spPr>
          <a:xfrm>
            <a:off x="8549243" y="4536458"/>
            <a:ext cx="123500" cy="126366"/>
          </a:xfrm>
          <a:custGeom>
            <a:rect b="b" l="l" r="r" t="t"/>
            <a:pathLst>
              <a:path extrusionOk="0" h="14893" w="14893">
                <a:moveTo>
                  <a:pt x="14893" y="7447"/>
                </a:moveTo>
                <a:cubicBezTo>
                  <a:pt x="14893" y="3351"/>
                  <a:pt x="11542" y="0"/>
                  <a:pt x="7446" y="0"/>
                </a:cubicBezTo>
                <a:cubicBezTo>
                  <a:pt x="3351" y="0"/>
                  <a:pt x="0" y="3351"/>
                  <a:pt x="0" y="7447"/>
                </a:cubicBezTo>
                <a:cubicBezTo>
                  <a:pt x="0" y="11542"/>
                  <a:pt x="3351" y="14893"/>
                  <a:pt x="7446" y="14893"/>
                </a:cubicBezTo>
                <a:cubicBezTo>
                  <a:pt x="7632" y="14893"/>
                  <a:pt x="7819" y="14893"/>
                  <a:pt x="8005" y="14893"/>
                </a:cubicBezTo>
                <a:cubicBezTo>
                  <a:pt x="8284" y="11170"/>
                  <a:pt x="11169" y="8284"/>
                  <a:pt x="14799" y="8005"/>
                </a:cubicBezTo>
                <a:cubicBezTo>
                  <a:pt x="14799" y="7819"/>
                  <a:pt x="14893" y="7633"/>
                  <a:pt x="14893" y="7447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6"/>
          <p:cNvSpPr/>
          <p:nvPr/>
        </p:nvSpPr>
        <p:spPr>
          <a:xfrm>
            <a:off x="8684311" y="4536458"/>
            <a:ext cx="123508" cy="126366"/>
          </a:xfrm>
          <a:custGeom>
            <a:rect b="b" l="l" r="r" t="t"/>
            <a:pathLst>
              <a:path extrusionOk="0" h="14893" w="14894">
                <a:moveTo>
                  <a:pt x="6516" y="14800"/>
                </a:moveTo>
                <a:cubicBezTo>
                  <a:pt x="6795" y="14893"/>
                  <a:pt x="7075" y="14893"/>
                  <a:pt x="7447" y="14893"/>
                </a:cubicBezTo>
                <a:cubicBezTo>
                  <a:pt x="11542" y="14893"/>
                  <a:pt x="14893" y="11542"/>
                  <a:pt x="14893" y="7447"/>
                </a:cubicBezTo>
                <a:cubicBezTo>
                  <a:pt x="14893" y="3351"/>
                  <a:pt x="11542" y="0"/>
                  <a:pt x="7447" y="0"/>
                </a:cubicBezTo>
                <a:cubicBezTo>
                  <a:pt x="3351" y="0"/>
                  <a:pt x="1" y="3351"/>
                  <a:pt x="1" y="7447"/>
                </a:cubicBezTo>
                <a:cubicBezTo>
                  <a:pt x="1" y="7633"/>
                  <a:pt x="1" y="7819"/>
                  <a:pt x="1" y="8005"/>
                </a:cubicBezTo>
                <a:cubicBezTo>
                  <a:pt x="3538" y="8470"/>
                  <a:pt x="6237" y="11263"/>
                  <a:pt x="6516" y="14800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8684311" y="4675459"/>
            <a:ext cx="123508" cy="126366"/>
          </a:xfrm>
          <a:custGeom>
            <a:rect b="b" l="l" r="r" t="t"/>
            <a:pathLst>
              <a:path extrusionOk="0" h="14893" w="14894">
                <a:moveTo>
                  <a:pt x="94" y="6422"/>
                </a:moveTo>
                <a:cubicBezTo>
                  <a:pt x="1" y="6795"/>
                  <a:pt x="1" y="7074"/>
                  <a:pt x="1" y="7446"/>
                </a:cubicBezTo>
                <a:cubicBezTo>
                  <a:pt x="1" y="11542"/>
                  <a:pt x="3351" y="14892"/>
                  <a:pt x="7447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3258"/>
                  <a:pt x="11542" y="0"/>
                  <a:pt x="7447" y="0"/>
                </a:cubicBezTo>
                <a:cubicBezTo>
                  <a:pt x="7075" y="0"/>
                  <a:pt x="6795" y="0"/>
                  <a:pt x="6423" y="0"/>
                </a:cubicBezTo>
                <a:cubicBezTo>
                  <a:pt x="6051" y="3351"/>
                  <a:pt x="3351" y="6050"/>
                  <a:pt x="94" y="6422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319074" y="294016"/>
            <a:ext cx="85665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351627" y="4195000"/>
            <a:ext cx="47094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457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4" name="Google Shape;114;p26"/>
          <p:cNvSpPr/>
          <p:nvPr/>
        </p:nvSpPr>
        <p:spPr>
          <a:xfrm>
            <a:off x="319074" y="294016"/>
            <a:ext cx="8566500" cy="3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Применение ML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в кибербезопасности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Итоговое задание</a:t>
            </a:r>
            <a:endParaRPr/>
          </a:p>
        </p:txBody>
      </p:sp>
      <p:sp>
        <p:nvSpPr>
          <p:cNvPr id="115" name="Google Shape;115;p26"/>
          <p:cNvSpPr/>
          <p:nvPr/>
        </p:nvSpPr>
        <p:spPr>
          <a:xfrm>
            <a:off x="351627" y="4195000"/>
            <a:ext cx="47094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n-US" sz="142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Антиспам на основе решения хакатона по фишингу</a:t>
            </a:r>
            <a:endParaRPr sz="1425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n-US" sz="142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Ражнов Андрей · МКБ251 · Индивидуальная работа</a:t>
            </a:r>
            <a:endParaRPr sz="1425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/>
          <p:nvPr/>
        </p:nvSpPr>
        <p:spPr>
          <a:xfrm>
            <a:off x="8549243" y="4675460"/>
            <a:ext cx="123500" cy="126366"/>
          </a:xfrm>
          <a:custGeom>
            <a:rect b="b" l="l" r="r" t="t"/>
            <a:pathLst>
              <a:path extrusionOk="0" h="14893" w="14893">
                <a:moveTo>
                  <a:pt x="8005" y="0"/>
                </a:moveTo>
                <a:cubicBezTo>
                  <a:pt x="7819" y="0"/>
                  <a:pt x="7632" y="0"/>
                  <a:pt x="7446" y="0"/>
                </a:cubicBezTo>
                <a:cubicBezTo>
                  <a:pt x="3351" y="0"/>
                  <a:pt x="0" y="3258"/>
                  <a:pt x="0" y="7446"/>
                </a:cubicBezTo>
                <a:cubicBezTo>
                  <a:pt x="0" y="11542"/>
                  <a:pt x="3351" y="14892"/>
                  <a:pt x="7446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7074"/>
                  <a:pt x="14799" y="6795"/>
                  <a:pt x="14799" y="6515"/>
                </a:cubicBezTo>
                <a:cubicBezTo>
                  <a:pt x="11262" y="6236"/>
                  <a:pt x="8470" y="3444"/>
                  <a:pt x="8005" y="0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/>
          <p:nvPr/>
        </p:nvSpPr>
        <p:spPr>
          <a:xfrm>
            <a:off x="8549243" y="4536459"/>
            <a:ext cx="123500" cy="126366"/>
          </a:xfrm>
          <a:custGeom>
            <a:rect b="b" l="l" r="r" t="t"/>
            <a:pathLst>
              <a:path extrusionOk="0" h="14893" w="14893">
                <a:moveTo>
                  <a:pt x="14893" y="7447"/>
                </a:moveTo>
                <a:cubicBezTo>
                  <a:pt x="14893" y="3351"/>
                  <a:pt x="11542" y="0"/>
                  <a:pt x="7446" y="0"/>
                </a:cubicBezTo>
                <a:cubicBezTo>
                  <a:pt x="3351" y="0"/>
                  <a:pt x="0" y="3351"/>
                  <a:pt x="0" y="7447"/>
                </a:cubicBezTo>
                <a:cubicBezTo>
                  <a:pt x="0" y="11542"/>
                  <a:pt x="3351" y="14893"/>
                  <a:pt x="7446" y="14893"/>
                </a:cubicBezTo>
                <a:cubicBezTo>
                  <a:pt x="7632" y="14893"/>
                  <a:pt x="7819" y="14893"/>
                  <a:pt x="8005" y="14893"/>
                </a:cubicBezTo>
                <a:cubicBezTo>
                  <a:pt x="8284" y="11170"/>
                  <a:pt x="11169" y="8284"/>
                  <a:pt x="14799" y="8005"/>
                </a:cubicBezTo>
                <a:cubicBezTo>
                  <a:pt x="14799" y="7819"/>
                  <a:pt x="14893" y="7633"/>
                  <a:pt x="14893" y="7447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7"/>
          <p:cNvSpPr/>
          <p:nvPr/>
        </p:nvSpPr>
        <p:spPr>
          <a:xfrm>
            <a:off x="8684311" y="4536459"/>
            <a:ext cx="123508" cy="126366"/>
          </a:xfrm>
          <a:custGeom>
            <a:rect b="b" l="l" r="r" t="t"/>
            <a:pathLst>
              <a:path extrusionOk="0" h="14893" w="14894">
                <a:moveTo>
                  <a:pt x="6516" y="14800"/>
                </a:moveTo>
                <a:cubicBezTo>
                  <a:pt x="6795" y="14893"/>
                  <a:pt x="7075" y="14893"/>
                  <a:pt x="7447" y="14893"/>
                </a:cubicBezTo>
                <a:cubicBezTo>
                  <a:pt x="11542" y="14893"/>
                  <a:pt x="14893" y="11542"/>
                  <a:pt x="14893" y="7447"/>
                </a:cubicBezTo>
                <a:cubicBezTo>
                  <a:pt x="14893" y="3351"/>
                  <a:pt x="11542" y="0"/>
                  <a:pt x="7447" y="0"/>
                </a:cubicBezTo>
                <a:cubicBezTo>
                  <a:pt x="3351" y="0"/>
                  <a:pt x="1" y="3351"/>
                  <a:pt x="1" y="7447"/>
                </a:cubicBezTo>
                <a:cubicBezTo>
                  <a:pt x="1" y="7633"/>
                  <a:pt x="1" y="7819"/>
                  <a:pt x="1" y="8005"/>
                </a:cubicBezTo>
                <a:cubicBezTo>
                  <a:pt x="3538" y="8470"/>
                  <a:pt x="6237" y="11263"/>
                  <a:pt x="6516" y="14800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7"/>
          <p:cNvSpPr/>
          <p:nvPr/>
        </p:nvSpPr>
        <p:spPr>
          <a:xfrm>
            <a:off x="8684311" y="4675460"/>
            <a:ext cx="123508" cy="126366"/>
          </a:xfrm>
          <a:custGeom>
            <a:rect b="b" l="l" r="r" t="t"/>
            <a:pathLst>
              <a:path extrusionOk="0" h="14893" w="14894">
                <a:moveTo>
                  <a:pt x="94" y="6422"/>
                </a:moveTo>
                <a:cubicBezTo>
                  <a:pt x="1" y="6795"/>
                  <a:pt x="1" y="7074"/>
                  <a:pt x="1" y="7446"/>
                </a:cubicBezTo>
                <a:cubicBezTo>
                  <a:pt x="1" y="11542"/>
                  <a:pt x="3351" y="14892"/>
                  <a:pt x="7447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3258"/>
                  <a:pt x="11542" y="0"/>
                  <a:pt x="7447" y="0"/>
                </a:cubicBezTo>
                <a:cubicBezTo>
                  <a:pt x="7075" y="0"/>
                  <a:pt x="6795" y="0"/>
                  <a:pt x="6423" y="0"/>
                </a:cubicBezTo>
                <a:cubicBezTo>
                  <a:pt x="6051" y="3351"/>
                  <a:pt x="3351" y="6050"/>
                  <a:pt x="94" y="6422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7"/>
          <p:cNvSpPr/>
          <p:nvPr/>
        </p:nvSpPr>
        <p:spPr>
          <a:xfrm>
            <a:off x="319074" y="294016"/>
            <a:ext cx="8566500" cy="28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Вводная информация</a:t>
            </a:r>
            <a:endParaRPr b="1" i="0" sz="4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38100" marR="0" rtl="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351627" y="4195000"/>
            <a:ext cx="47094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457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/>
          <p:nvPr/>
        </p:nvSpPr>
        <p:spPr>
          <a:xfrm>
            <a:off x="358007" y="867750"/>
            <a:ext cx="8430300" cy="391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8"/>
          <p:cNvSpPr/>
          <p:nvPr/>
        </p:nvSpPr>
        <p:spPr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Цель и результат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8"/>
          <p:cNvSpPr/>
          <p:nvPr/>
        </p:nvSpPr>
        <p:spPr>
          <a:xfrm>
            <a:off x="361950" y="876300"/>
            <a:ext cx="8382000" cy="390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Цель: распознавать спам в письмах с приоритетом сохранения важной переписки.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Основа: авторская работа хакатона Hakaton — автономные признаки ссылок и OOF-стекинг.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Результат: отдельно обученная модель писем, категории, FastAPI и Docker.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На локальном тесте: F1 = 0,93878; precision = 0,99184; FP = 7 из 590.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/>
          <p:nvPr/>
        </p:nvSpPr>
        <p:spPr>
          <a:xfrm>
            <a:off x="358007" y="867750"/>
            <a:ext cx="8430300" cy="391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29"/>
          <p:cNvSpPr/>
          <p:nvPr/>
        </p:nvSpPr>
        <p:spPr>
          <a:xfrm>
            <a:off x="4246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Роли участников команды*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9"/>
          <p:cNvSpPr/>
          <p:nvPr/>
        </p:nvSpPr>
        <p:spPr>
          <a:xfrm>
            <a:off x="361950" y="876300"/>
            <a:ext cx="8382000" cy="390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Работа выполнена индивидуально.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Аналитик: постановка задачи, выбор метрик и ограничений.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scientist: подготовка корпусов, сравнение моделей и тестирование.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Инженер: сохранение моделей, FastAPI, Docker и демонстрационная страница.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/>
          <p:nvPr/>
        </p:nvSpPr>
        <p:spPr>
          <a:xfrm>
            <a:off x="342955" y="257292"/>
            <a:ext cx="8523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9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Роли участников команды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(продолжение)</a:t>
            </a:r>
            <a:endParaRPr b="1" i="0" sz="2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" name="Google Shape;149;p30"/>
          <p:cNvSpPr/>
          <p:nvPr/>
        </p:nvSpPr>
        <p:spPr>
          <a:xfrm>
            <a:off x="340725" y="867900"/>
            <a:ext cx="7752300" cy="7347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50" name="Google Shape;150;p30"/>
          <p:cNvGraphicFramePr/>
          <p:nvPr/>
        </p:nvGraphicFramePr>
        <p:xfrm>
          <a:off x="678650" y="1819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{BBAA868F-7CFB-42DF-91E8-6444F7D2DF13}</a:tableStyleId>
              </a:tblPr>
              <a:tblGrid>
                <a:gridCol w="3744125"/>
                <a:gridCol w="3744125"/>
              </a:tblGrid>
              <a:tr h="452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n-US" sz="1425" u="none" cap="none" strike="noStrike"/>
                        <a:t>Участник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n-US" sz="1425" u="none" cap="none" strike="noStrike"/>
                        <a:t>Этап работы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5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n-US" sz="1425" u="none" cap="none" strike="noStrike"/>
                        <a:t>Ражнов Андрей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n-US" sz="1425" u="none" cap="none" strike="noStrike"/>
                        <a:t>Постановка задачи и выбор данных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3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n-US" sz="1425" u="none" cap="none" strike="noStrike"/>
                        <a:t>Ражнов Андрей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n-US" sz="1425" u="none" cap="none" strike="noStrike"/>
                        <a:t>Очистка, обучение и сравнение моделей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3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n-US" sz="1425" u="none" cap="none" strike="noStrike"/>
                        <a:t>Ражнов Андрей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n-US" sz="1425" u="none" cap="none" strike="noStrike"/>
                        <a:t>Внешний тест и анализ ошибок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n-US" sz="1425" u="none" cap="none" strike="noStrike"/>
                        <a:t>Ражнов Андрей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en-US" sz="1425" u="none" cap="none" strike="noStrike"/>
                        <a:t>Микросервис и презентация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1" name="Google Shape;151;p30"/>
          <p:cNvSpPr/>
          <p:nvPr/>
        </p:nvSpPr>
        <p:spPr>
          <a:xfrm>
            <a:off x="340725" y="867900"/>
            <a:ext cx="77523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Все этапы выполнены одним участником.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/>
          <p:nvPr/>
        </p:nvSpPr>
        <p:spPr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Регламент выполнения задания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/>
          <p:nvPr/>
        </p:nvSpPr>
        <p:spPr>
          <a:xfrm>
            <a:off x="361950" y="876300"/>
            <a:ext cx="8382000" cy="390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1. Зафиксировать исходный код решения хакатона и переносимые признаки.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2. Подготовить SpamAssassin и Ling-Spam, удалить пересечения с тестом.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3. Обучить четыре базовые модели; получить OOF для мета-модели.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4. Выбрать порог на validation при FPR ≤ 1%.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5. Проверить одну модель на всём тесте и исторически новом срезе.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6. Упаковать FastAPI + Docker, опубликовать и подготовить защиту.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/>
          <p:nvPr/>
        </p:nvSpPr>
        <p:spPr>
          <a:xfrm>
            <a:off x="8549243" y="4675460"/>
            <a:ext cx="123500" cy="126366"/>
          </a:xfrm>
          <a:custGeom>
            <a:rect b="b" l="l" r="r" t="t"/>
            <a:pathLst>
              <a:path extrusionOk="0" h="14893" w="14893">
                <a:moveTo>
                  <a:pt x="8005" y="0"/>
                </a:moveTo>
                <a:cubicBezTo>
                  <a:pt x="7819" y="0"/>
                  <a:pt x="7632" y="0"/>
                  <a:pt x="7446" y="0"/>
                </a:cubicBezTo>
                <a:cubicBezTo>
                  <a:pt x="3351" y="0"/>
                  <a:pt x="0" y="3258"/>
                  <a:pt x="0" y="7446"/>
                </a:cubicBezTo>
                <a:cubicBezTo>
                  <a:pt x="0" y="11542"/>
                  <a:pt x="3351" y="14892"/>
                  <a:pt x="7446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7074"/>
                  <a:pt x="14799" y="6795"/>
                  <a:pt x="14799" y="6515"/>
                </a:cubicBezTo>
                <a:cubicBezTo>
                  <a:pt x="11262" y="6236"/>
                  <a:pt x="8470" y="3444"/>
                  <a:pt x="8005" y="0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/>
          <p:nvPr/>
        </p:nvSpPr>
        <p:spPr>
          <a:xfrm>
            <a:off x="8549243" y="4536459"/>
            <a:ext cx="123500" cy="126366"/>
          </a:xfrm>
          <a:custGeom>
            <a:rect b="b" l="l" r="r" t="t"/>
            <a:pathLst>
              <a:path extrusionOk="0" h="14893" w="14893">
                <a:moveTo>
                  <a:pt x="14893" y="7447"/>
                </a:moveTo>
                <a:cubicBezTo>
                  <a:pt x="14893" y="3351"/>
                  <a:pt x="11542" y="0"/>
                  <a:pt x="7446" y="0"/>
                </a:cubicBezTo>
                <a:cubicBezTo>
                  <a:pt x="3351" y="0"/>
                  <a:pt x="0" y="3351"/>
                  <a:pt x="0" y="7447"/>
                </a:cubicBezTo>
                <a:cubicBezTo>
                  <a:pt x="0" y="11542"/>
                  <a:pt x="3351" y="14893"/>
                  <a:pt x="7446" y="14893"/>
                </a:cubicBezTo>
                <a:cubicBezTo>
                  <a:pt x="7632" y="14893"/>
                  <a:pt x="7819" y="14893"/>
                  <a:pt x="8005" y="14893"/>
                </a:cubicBezTo>
                <a:cubicBezTo>
                  <a:pt x="8284" y="11170"/>
                  <a:pt x="11169" y="8284"/>
                  <a:pt x="14799" y="8005"/>
                </a:cubicBezTo>
                <a:cubicBezTo>
                  <a:pt x="14799" y="7819"/>
                  <a:pt x="14893" y="7633"/>
                  <a:pt x="14893" y="7447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8684311" y="4536459"/>
            <a:ext cx="123508" cy="126366"/>
          </a:xfrm>
          <a:custGeom>
            <a:rect b="b" l="l" r="r" t="t"/>
            <a:pathLst>
              <a:path extrusionOk="0" h="14893" w="14894">
                <a:moveTo>
                  <a:pt x="6516" y="14800"/>
                </a:moveTo>
                <a:cubicBezTo>
                  <a:pt x="6795" y="14893"/>
                  <a:pt x="7075" y="14893"/>
                  <a:pt x="7447" y="14893"/>
                </a:cubicBezTo>
                <a:cubicBezTo>
                  <a:pt x="11542" y="14893"/>
                  <a:pt x="14893" y="11542"/>
                  <a:pt x="14893" y="7447"/>
                </a:cubicBezTo>
                <a:cubicBezTo>
                  <a:pt x="14893" y="3351"/>
                  <a:pt x="11542" y="0"/>
                  <a:pt x="7447" y="0"/>
                </a:cubicBezTo>
                <a:cubicBezTo>
                  <a:pt x="3351" y="0"/>
                  <a:pt x="1" y="3351"/>
                  <a:pt x="1" y="7447"/>
                </a:cubicBezTo>
                <a:cubicBezTo>
                  <a:pt x="1" y="7633"/>
                  <a:pt x="1" y="7819"/>
                  <a:pt x="1" y="8005"/>
                </a:cubicBezTo>
                <a:cubicBezTo>
                  <a:pt x="3538" y="8470"/>
                  <a:pt x="6237" y="11263"/>
                  <a:pt x="6516" y="14800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8684311" y="4675460"/>
            <a:ext cx="123508" cy="126366"/>
          </a:xfrm>
          <a:custGeom>
            <a:rect b="b" l="l" r="r" t="t"/>
            <a:pathLst>
              <a:path extrusionOk="0" h="14893" w="14894">
                <a:moveTo>
                  <a:pt x="94" y="6422"/>
                </a:moveTo>
                <a:cubicBezTo>
                  <a:pt x="1" y="6795"/>
                  <a:pt x="1" y="7074"/>
                  <a:pt x="1" y="7446"/>
                </a:cubicBezTo>
                <a:cubicBezTo>
                  <a:pt x="1" y="11542"/>
                  <a:pt x="3351" y="14892"/>
                  <a:pt x="7447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3258"/>
                  <a:pt x="11542" y="0"/>
                  <a:pt x="7447" y="0"/>
                </a:cubicBezTo>
                <a:cubicBezTo>
                  <a:pt x="7075" y="0"/>
                  <a:pt x="6795" y="0"/>
                  <a:pt x="6423" y="0"/>
                </a:cubicBezTo>
                <a:cubicBezTo>
                  <a:pt x="6051" y="3351"/>
                  <a:pt x="3351" y="6050"/>
                  <a:pt x="94" y="6422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319074" y="294016"/>
            <a:ext cx="8566500" cy="3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Описание разработки модели ML</a:t>
            </a:r>
            <a:endParaRPr b="1" i="0" sz="4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 </a:t>
            </a:r>
            <a:endParaRPr b="1" i="0" sz="4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38100" marR="0" rtl="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351627" y="4195000"/>
            <a:ext cx="47094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457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/>
          <p:nvPr/>
        </p:nvSpPr>
        <p:spPr>
          <a:xfrm>
            <a:off x="310509" y="266690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Описание задачи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3"/>
          <p:cNvSpPr/>
          <p:nvPr/>
        </p:nvSpPr>
        <p:spPr>
          <a:xfrm>
            <a:off x="361950" y="876300"/>
            <a:ext cx="8382000" cy="390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Бизнес-задача: уменьшить ручную проверку нежелательной почты, сохранив важные письма.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ML-задача: spam / ham по теме, тексту и структуре ссылок в письме.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Работа хакатона распознавала фишинговые URL. Здесь перенесён её модуль признаков; метки и веса модели обучены на письмах.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Вход: subject, text, sender. Выход: spam score, решение, порог, категория и признаки ссылок.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Автоматического удаления писем нет.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/>
          <p:nvPr/>
        </p:nvSpPr>
        <p:spPr>
          <a:xfrm>
            <a:off x="310505" y="355592"/>
            <a:ext cx="8523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9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Результаты анализа существующих решений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4"/>
          <p:cNvSpPr/>
          <p:nvPr/>
        </p:nvSpPr>
        <p:spPr>
          <a:xfrm>
            <a:off x="361950" y="876300"/>
            <a:ext cx="8382000" cy="390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Правила: объяснимы, но требуют ручного сопровождения и плохо покрывают новые формулировки.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TF-IDF + LR / SVM / ComplementNB: базовые модели для разреженного текста; HistGB использует числовые признаки и SVD.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Основа Hakaton: структура URL, бренды, тайпсквоттинг и объединение разных представлений через OOF.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На validation: F1 текстовой LR = 0,98068; стекинга = 0,98204. Изолированный вклад URL-признаков ещё не измерен.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/>
          <p:nvPr/>
        </p:nvSpPr>
        <p:spPr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Описание используемого набора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5"/>
          <p:cNvSpPr/>
          <p:nvPr/>
        </p:nvSpPr>
        <p:spPr>
          <a:xfrm>
            <a:off x="361950" y="876300"/>
            <a:ext cx="8382000" cy="390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Исходный пул: 9055 писем — SpamAssassin, Ling-Spam и 25 синтетических транзакционных примеров.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1203 тестовых текста встречались в исходном пуле. После нормализации, дедупликации и полного удаления пересечений осталось 7848 писем.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Разбиение: 6278 development; 1570 validation; 1545 test. Все тестовые тексты исключены из первых двух частей.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SpamBase скачан, но его строки в обучении не используются. Основных текстовых корпусов два. Близкие дубликаты не группировались.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/>
          <p:nvPr/>
        </p:nvSpPr>
        <p:spPr>
          <a:xfrm>
            <a:off x="359730" y="76189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Описание выбранной модели (с обоснованием)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6"/>
          <p:cNvSpPr/>
          <p:nvPr/>
        </p:nvSpPr>
        <p:spPr>
          <a:xfrm>
            <a:off x="361950" y="876300"/>
            <a:ext cx="8382000" cy="390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TF-IDF слов и символов + 94 признака письма + 50 признаков ссылок → LR / SVM / NB / HistGB → логистическая мета-модель.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Из Hakaton перенесены 24 автономных признака URL. Для письма: максимум, среднее, число ссылок и усечение. Сетевых запросов по ссылкам нет.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5-fold CV базовых моделей только на development. Финальная мета-модель обучается на OOF-прогнозах.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Порог 0,710376 выбран на validation: максимум recall при FPR ≤ 1%. Тест не использовался для выбора порога.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/>
          <p:nvPr/>
        </p:nvSpPr>
        <p:spPr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Результаты эксперимента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7"/>
          <p:cNvSpPr/>
          <p:nvPr/>
        </p:nvSpPr>
        <p:spPr>
          <a:xfrm>
            <a:off x="361950" y="876300"/>
            <a:ext cx="8382000" cy="390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Весь локальный тест — 1545 писем: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F1 = 0,93878; precision = 0,99184; recall = 0,89110.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TN = 583; FP = 7; FN = 104; TP = 851; FPR = 1,19%.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t/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Исторически новый срез — 342 письма: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F1 = 0,84342; precision = 0,97131; recall = 0,74528.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TN = 17; FP = 7; FN = 81; TP = 237; FPR = 29,17%.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t/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Одна модель и один порог. В срезе всего 24 нормальных письма.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Тест изучался ранее; нужна свежая внешняя проверка.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/>
          <p:nvPr/>
        </p:nvSpPr>
        <p:spPr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Код экспериментов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8"/>
          <p:cNvSpPr/>
          <p:nvPr/>
        </p:nvSpPr>
        <p:spPr>
          <a:xfrm>
            <a:off x="361950" y="876300"/>
            <a:ext cx="8382000" cy="390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Код антиспама: </a:t>
            </a:r>
            <a:r>
              <a:rPr lang="en-US" sz="1725" u="sng">
                <a:solidFill>
                  <a:schemeClr val="hlink"/>
                </a:solidFill>
                <a:hlinkClick r:id="rId3"/>
              </a:rPr>
              <a:t>github.com/Andrey123654/antispam-ml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Основа хакатона: </a:t>
            </a:r>
            <a:r>
              <a:rPr lang="en-US" sz="1725" u="sng">
                <a:solidFill>
                  <a:schemeClr val="hlink"/>
                </a:solidFill>
                <a:hlinkClick r:id="rId4"/>
              </a:rPr>
              <a:t>github.com/Andrey123654/Hakaton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t/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src/vendor/hackathon_features.py — точная копия исходного модуля; commit и SHA256 записаны в отчёте.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src/hackathon_adapter.py — перенос признаков на письма.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src/adapt_hackathon.py — обучение и единая оценка v2.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reports/Итоговое_задание.ipynb — выполненная тетрадка.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t/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n-US" sz="1725"/>
              <a:t>Категории: 6 классов + «прочее»; macro-F1 = 0,72248. Слабая разметка правилами; отдельная унаследованная модель.</a:t>
            </a:r>
            <a:endParaRPr sz="172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/>
          <p:nvPr/>
        </p:nvSpPr>
        <p:spPr>
          <a:xfrm>
            <a:off x="348400" y="258226"/>
            <a:ext cx="8523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Упаковка модели </a:t>
            </a:r>
            <a:endParaRPr b="1" i="0" sz="2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8" name="Google Shape;218;p39"/>
          <p:cNvSpPr/>
          <p:nvPr/>
        </p:nvSpPr>
        <p:spPr>
          <a:xfrm>
            <a:off x="361950" y="876300"/>
            <a:ext cx="3714750" cy="390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/>
              <a:t>FastAPI: /predict, /predict_batch, /health, /docs.</a:t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/>
              <a:t>Веб-форма проверяет текст письма.</a:t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/>
              <a:t>Docker v2 собран и проверен.</a:t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/>
              <a:t>Порог берётся из артефакта модели.</a:t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/>
              <a:t>Модели вынесены в GitHub Releases;</a:t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/>
              <a:t>каждая часть проверяется по SHA256.</a:t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u="sng">
                <a:solidFill>
                  <a:schemeClr val="hlink"/>
                </a:solidFill>
                <a:hlinkClick r:id="rId3"/>
              </a:rPr>
              <a:t>Публичное демо: открыть сервис Render.</a:t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/>
              <a:t>/health и /predict проверены.</a:t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19" name="Google Shape;21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250" y="1452563"/>
            <a:ext cx="45720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/>
          <p:nvPr/>
        </p:nvSpPr>
        <p:spPr>
          <a:xfrm>
            <a:off x="342955" y="257292"/>
            <a:ext cx="8523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9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Выводы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0"/>
          <p:cNvSpPr/>
          <p:nvPr/>
        </p:nvSpPr>
        <p:spPr>
          <a:xfrm>
            <a:off x="361950" y="876300"/>
            <a:ext cx="8382000" cy="390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Итоговое задание развивает реальный код хакатона: признаки ссылок встроены в модель писем, OOF используется для обучения мета-модели.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F1 турнира 0,996062 относится к URL. F1 антиспама на полном тесте — 0,93878. Перенос метрик между задачами не допускается.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FPR на тесте 1,19%, на сложном срезе — 7 из 24. Модель требует ручного контроля; преимущественно английские исторические корпуса ограничивают перенос.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Причинный прирост от URL-признаков пока не доказан отдельной абляцией.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/>
          <p:nvPr/>
        </p:nvSpPr>
        <p:spPr>
          <a:xfrm>
            <a:off x="342955" y="257292"/>
            <a:ext cx="8523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9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Дополнительные вопросы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1"/>
          <p:cNvSpPr/>
          <p:nvPr/>
        </p:nvSpPr>
        <p:spPr>
          <a:xfrm>
            <a:off x="361950" y="876300"/>
            <a:ext cx="8382000" cy="390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/>
              <a:t>Мультиязычность: собрать экспертно размеченные русские письма; оценивать FPR и recall отдельно по языкам и типам писем.</a:t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/>
              <a:t>Concept drift: свежий временной тест, контроль ошибок и повторный выбор порога только на validation.</a:t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/>
              <a:t>Дообучение: подтверждённые метки, OOF для мета-модели, группировка кампаний и сохранение нового независимого теста.</a:t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/>
              <a:t>Цена FP: важное письмо может быть потеряно. Поэтому решение служит рекомендацией, а письмо автоматически не удаляется.</a:t>
            </a:r>
            <a:endParaRPr sz="1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2"/>
          <p:cNvSpPr/>
          <p:nvPr/>
        </p:nvSpPr>
        <p:spPr>
          <a:xfrm>
            <a:off x="8549243" y="4675460"/>
            <a:ext cx="123500" cy="126366"/>
          </a:xfrm>
          <a:custGeom>
            <a:rect b="b" l="l" r="r" t="t"/>
            <a:pathLst>
              <a:path extrusionOk="0" h="14893" w="14893">
                <a:moveTo>
                  <a:pt x="8005" y="0"/>
                </a:moveTo>
                <a:cubicBezTo>
                  <a:pt x="7819" y="0"/>
                  <a:pt x="7632" y="0"/>
                  <a:pt x="7446" y="0"/>
                </a:cubicBezTo>
                <a:cubicBezTo>
                  <a:pt x="3351" y="0"/>
                  <a:pt x="0" y="3258"/>
                  <a:pt x="0" y="7446"/>
                </a:cubicBezTo>
                <a:cubicBezTo>
                  <a:pt x="0" y="11542"/>
                  <a:pt x="3351" y="14892"/>
                  <a:pt x="7446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7074"/>
                  <a:pt x="14799" y="6795"/>
                  <a:pt x="14799" y="6515"/>
                </a:cubicBezTo>
                <a:cubicBezTo>
                  <a:pt x="11262" y="6236"/>
                  <a:pt x="8470" y="3444"/>
                  <a:pt x="8005" y="0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2"/>
          <p:cNvSpPr/>
          <p:nvPr/>
        </p:nvSpPr>
        <p:spPr>
          <a:xfrm>
            <a:off x="8549243" y="4536459"/>
            <a:ext cx="123500" cy="126366"/>
          </a:xfrm>
          <a:custGeom>
            <a:rect b="b" l="l" r="r" t="t"/>
            <a:pathLst>
              <a:path extrusionOk="0" h="14893" w="14893">
                <a:moveTo>
                  <a:pt x="14893" y="7447"/>
                </a:moveTo>
                <a:cubicBezTo>
                  <a:pt x="14893" y="3351"/>
                  <a:pt x="11542" y="0"/>
                  <a:pt x="7446" y="0"/>
                </a:cubicBezTo>
                <a:cubicBezTo>
                  <a:pt x="3351" y="0"/>
                  <a:pt x="0" y="3351"/>
                  <a:pt x="0" y="7447"/>
                </a:cubicBezTo>
                <a:cubicBezTo>
                  <a:pt x="0" y="11542"/>
                  <a:pt x="3351" y="14893"/>
                  <a:pt x="7446" y="14893"/>
                </a:cubicBezTo>
                <a:cubicBezTo>
                  <a:pt x="7632" y="14893"/>
                  <a:pt x="7819" y="14893"/>
                  <a:pt x="8005" y="14893"/>
                </a:cubicBezTo>
                <a:cubicBezTo>
                  <a:pt x="8284" y="11170"/>
                  <a:pt x="11169" y="8284"/>
                  <a:pt x="14799" y="8005"/>
                </a:cubicBezTo>
                <a:cubicBezTo>
                  <a:pt x="14799" y="7819"/>
                  <a:pt x="14893" y="7633"/>
                  <a:pt x="14893" y="7447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2"/>
          <p:cNvSpPr/>
          <p:nvPr/>
        </p:nvSpPr>
        <p:spPr>
          <a:xfrm>
            <a:off x="8684311" y="4536459"/>
            <a:ext cx="123508" cy="126366"/>
          </a:xfrm>
          <a:custGeom>
            <a:rect b="b" l="l" r="r" t="t"/>
            <a:pathLst>
              <a:path extrusionOk="0" h="14893" w="14894">
                <a:moveTo>
                  <a:pt x="6516" y="14800"/>
                </a:moveTo>
                <a:cubicBezTo>
                  <a:pt x="6795" y="14893"/>
                  <a:pt x="7075" y="14893"/>
                  <a:pt x="7447" y="14893"/>
                </a:cubicBezTo>
                <a:cubicBezTo>
                  <a:pt x="11542" y="14893"/>
                  <a:pt x="14893" y="11542"/>
                  <a:pt x="14893" y="7447"/>
                </a:cubicBezTo>
                <a:cubicBezTo>
                  <a:pt x="14893" y="3351"/>
                  <a:pt x="11542" y="0"/>
                  <a:pt x="7447" y="0"/>
                </a:cubicBezTo>
                <a:cubicBezTo>
                  <a:pt x="3351" y="0"/>
                  <a:pt x="1" y="3351"/>
                  <a:pt x="1" y="7447"/>
                </a:cubicBezTo>
                <a:cubicBezTo>
                  <a:pt x="1" y="7633"/>
                  <a:pt x="1" y="7819"/>
                  <a:pt x="1" y="8005"/>
                </a:cubicBezTo>
                <a:cubicBezTo>
                  <a:pt x="3538" y="8470"/>
                  <a:pt x="6237" y="11263"/>
                  <a:pt x="6516" y="14800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2"/>
          <p:cNvSpPr/>
          <p:nvPr/>
        </p:nvSpPr>
        <p:spPr>
          <a:xfrm>
            <a:off x="8684311" y="4675460"/>
            <a:ext cx="123508" cy="126366"/>
          </a:xfrm>
          <a:custGeom>
            <a:rect b="b" l="l" r="r" t="t"/>
            <a:pathLst>
              <a:path extrusionOk="0" h="14893" w="14894">
                <a:moveTo>
                  <a:pt x="94" y="6422"/>
                </a:moveTo>
                <a:cubicBezTo>
                  <a:pt x="1" y="6795"/>
                  <a:pt x="1" y="7074"/>
                  <a:pt x="1" y="7446"/>
                </a:cubicBezTo>
                <a:cubicBezTo>
                  <a:pt x="1" y="11542"/>
                  <a:pt x="3351" y="14892"/>
                  <a:pt x="7447" y="14892"/>
                </a:cubicBezTo>
                <a:cubicBezTo>
                  <a:pt x="11542" y="14892"/>
                  <a:pt x="14893" y="11542"/>
                  <a:pt x="14893" y="7446"/>
                </a:cubicBezTo>
                <a:cubicBezTo>
                  <a:pt x="14893" y="3258"/>
                  <a:pt x="11542" y="0"/>
                  <a:pt x="7447" y="0"/>
                </a:cubicBezTo>
                <a:cubicBezTo>
                  <a:pt x="7075" y="0"/>
                  <a:pt x="6795" y="0"/>
                  <a:pt x="6423" y="0"/>
                </a:cubicBezTo>
                <a:cubicBezTo>
                  <a:pt x="6051" y="3351"/>
                  <a:pt x="3351" y="6050"/>
                  <a:pt x="94" y="6422"/>
                </a:cubicBezTo>
                <a:close/>
              </a:path>
            </a:pathLst>
          </a:custGeom>
          <a:solidFill>
            <a:srgbClr val="F3F4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2"/>
          <p:cNvSpPr/>
          <p:nvPr/>
        </p:nvSpPr>
        <p:spPr>
          <a:xfrm>
            <a:off x="319074" y="294016"/>
            <a:ext cx="85665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4" name="Google Shape;244;p42"/>
          <p:cNvSpPr/>
          <p:nvPr/>
        </p:nvSpPr>
        <p:spPr>
          <a:xfrm>
            <a:off x="319074" y="294016"/>
            <a:ext cx="8566500" cy="16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Спасибо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_presentation">
  <a:themeElements>
    <a:clrScheme name="PRO_presentation">
      <a:dk1>
        <a:srgbClr val="000000"/>
      </a:dk1>
      <a:lt1>
        <a:srgbClr val="FFFFFF"/>
      </a:lt1>
      <a:dk2>
        <a:srgbClr val="FFFFFF"/>
      </a:dk2>
      <a:lt2>
        <a:srgbClr val="27282D"/>
      </a:lt2>
      <a:accent1>
        <a:srgbClr val="217AFF"/>
      </a:accent1>
      <a:accent2>
        <a:srgbClr val="0066FF"/>
      </a:accent2>
      <a:accent3>
        <a:srgbClr val="4BD0A0"/>
      </a:accent3>
      <a:accent4>
        <a:srgbClr val="DE3773"/>
      </a:accent4>
      <a:accent5>
        <a:srgbClr val="8261EE"/>
      </a:accent5>
      <a:accent6>
        <a:srgbClr val="F3F4F7"/>
      </a:accent6>
      <a:hlink>
        <a:srgbClr val="0066FF"/>
      </a:hlink>
      <a:folHlink>
        <a:srgbClr val="0066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_presentation">
  <a:themeElements>
    <a:clrScheme name="PRO_presentation">
      <a:dk1>
        <a:srgbClr val="000000"/>
      </a:dk1>
      <a:lt1>
        <a:srgbClr val="FFFFFF"/>
      </a:lt1>
      <a:dk2>
        <a:srgbClr val="FFFFFF"/>
      </a:dk2>
      <a:lt2>
        <a:srgbClr val="27282D"/>
      </a:lt2>
      <a:accent1>
        <a:srgbClr val="217AFF"/>
      </a:accent1>
      <a:accent2>
        <a:srgbClr val="0066FF"/>
      </a:accent2>
      <a:accent3>
        <a:srgbClr val="4BD0A0"/>
      </a:accent3>
      <a:accent4>
        <a:srgbClr val="DE3773"/>
      </a:accent4>
      <a:accent5>
        <a:srgbClr val="8261EE"/>
      </a:accent5>
      <a:accent6>
        <a:srgbClr val="F3F4F7"/>
      </a:accent6>
      <a:hlink>
        <a:srgbClr val="0066FF"/>
      </a:hlink>
      <a:folHlink>
        <a:srgbClr val="0066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