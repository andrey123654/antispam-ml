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6858000" cy="9144000"/>
  <p:embeddedFontLst>
    <p:embeddedFont>
      <p:font typeface="Proxima Nova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166CBF2-9642-4AC4-8CFD-A4399D60F063}">
  <a:tblStyle styleId="{1166CBF2-9642-4AC4-8CFD-A4399D60F06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ProximaNova-bold.fntdata"/><Relationship Id="rId23" Type="http://schemas.openxmlformats.org/officeDocument/2006/relationships/font" Target="fonts/ProximaNov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ProximaNova-boldItalic.fntdata"/><Relationship Id="rId25" Type="http://schemas.openxmlformats.org/officeDocument/2006/relationships/font" Target="fonts/ProximaNova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5" name="Google Shape;105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1200"/>
              <a:t>Титульный слайд</a:t>
            </a:r>
            <a:endParaRPr sz="1200"/>
          </a:p>
        </p:txBody>
      </p:sp>
      <p:sp>
        <p:nvSpPr>
          <p:cNvPr id="106" name="Google Shape;106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1200"/>
              <a:t>Титульный слайд</a:t>
            </a:r>
            <a:endParaRPr sz="1200"/>
          </a:p>
        </p:txBody>
      </p:sp>
      <p:sp>
        <p:nvSpPr>
          <p:cNvPr id="119" name="Google Shape;119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xima Nova"/>
              <a:buNone/>
            </a:pPr>
            <a:r>
              <a:rPr lang="en-US" sz="1200">
                <a:latin typeface="Proxima Nova"/>
                <a:ea typeface="Proxima Nova"/>
                <a:cs typeface="Proxima Nova"/>
                <a:sym typeface="Proxima Nova"/>
              </a:rPr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130" name="Google Shape;13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7" name="Google Shape;13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xima Nova"/>
              <a:buNone/>
            </a:pPr>
            <a:r>
              <a:rPr lang="en-US" sz="1200">
                <a:latin typeface="Proxima Nova"/>
                <a:ea typeface="Proxima Nova"/>
                <a:cs typeface="Proxima Nova"/>
                <a:sym typeface="Proxima Nova"/>
              </a:rPr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138" name="Google Shape;13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/>
          </a:p>
        </p:txBody>
      </p:sp>
      <p:sp>
        <p:nvSpPr>
          <p:cNvPr id="146" name="Google Shape;146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xima Nova"/>
              <a:buNone/>
            </a:pPr>
            <a:r>
              <a:rPr lang="en-US" sz="1200">
                <a:latin typeface="Proxima Nova"/>
                <a:ea typeface="Proxima Nova"/>
                <a:cs typeface="Proxima Nova"/>
                <a:sym typeface="Proxima Nova"/>
              </a:rPr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155" name="Google Shape;155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1" name="Google Shape;161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1200"/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 sz="1200"/>
          </a:p>
        </p:txBody>
      </p:sp>
      <p:sp>
        <p:nvSpPr>
          <p:cNvPr id="162" name="Google Shape;162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latin typeface="Proxima Nova"/>
                <a:ea typeface="Proxima Nova"/>
                <a:cs typeface="Proxima Nova"/>
                <a:sym typeface="Proxima Nova"/>
              </a:rPr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 sz="12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73" name="Google Shape;173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>
                <a:solidFill>
                  <a:srgbClr val="0B0B0B"/>
                </a:solidFill>
                <a:latin typeface="Proxima Nova"/>
                <a:ea typeface="Proxima Nova"/>
                <a:cs typeface="Proxima Nova"/>
                <a:sym typeface="Proxima Nova"/>
              </a:rPr>
              <a:t>Источники: https://spamassassin.apache.org/ ; https://scikit-learn.org/stable/auto_examples/text/plot_document_classification_20newsgroups.html . Сравнение F1: artifacts/hackathon_v2/metrics.json.</a:t>
            </a:r>
            <a:endParaRPr>
              <a:solidFill>
                <a:srgbClr val="0B0B0B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0" name="Google Shape;180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xima Nova"/>
              <a:buNone/>
            </a:pPr>
            <a:r>
              <a:rPr lang="en-US" sz="1200">
                <a:latin typeface="Proxima Nova"/>
                <a:ea typeface="Proxima Nova"/>
                <a:cs typeface="Proxima Nova"/>
                <a:sym typeface="Proxima Nova"/>
              </a:rPr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187" name="Google Shape;187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3" name="Google Shape;19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xima Nova"/>
              <a:buNone/>
            </a:pPr>
            <a:r>
              <a:rPr lang="en-US" sz="1200">
                <a:latin typeface="Proxima Nova"/>
                <a:ea typeface="Proxima Nova"/>
                <a:cs typeface="Proxima Nova"/>
                <a:sym typeface="Proxima Nova"/>
              </a:rPr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194" name="Google Shape;19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0" name="Google Shape;200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xima Nova"/>
              <a:buNone/>
            </a:pPr>
            <a:r>
              <a:rPr lang="en-US">
                <a:solidFill>
                  <a:srgbClr val="0066FF"/>
                </a:solidFill>
              </a:rPr>
              <a:t>Тестовый набор из задания: https://disk.yandex.ru/d/mJ_9zG3dX3eZgg . Файл test_task_emails.tar.xz, 1925712 байт; SHA256 14ccf52ab11673a85acab7c9793effa2c8db72c61838ba1b15356bd22d9576ee. Повторная проверка 20 октября 2026 года: 1600 исходных писем, 1545 после дедупликации; совпадает с ранее использованным тестом. Проверка сохранённой модели воспроизвела опубликованные метрики.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201" name="Google Shape;201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7" name="Google Shape;207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xima Nova"/>
              <a:buNone/>
            </a:pPr>
            <a:r>
              <a:rPr lang="en-US">
                <a:solidFill>
                  <a:srgbClr val="0066FF"/>
                </a:solidFill>
              </a:rPr>
              <a:t>Источник модуля URL-признаков: https://github.com/Andrey123654/Hakaton , src/features.py, commit afd2206d6d172b369b620d01ba10d6776219ad90. Происхождение и контрольная сумма: src/vendor/README.md.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208" name="Google Shape;208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4" name="Google Shape;214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xima Nova"/>
              <a:buNone/>
            </a:pPr>
            <a:r>
              <a:rPr lang="en-US" sz="1200">
                <a:latin typeface="Proxima Nova"/>
                <a:ea typeface="Proxima Nova"/>
                <a:cs typeface="Proxima Nova"/>
                <a:sym typeface="Proxima Nova"/>
              </a:rPr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215" name="Google Shape;215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latin typeface="Proxima Nova"/>
                <a:ea typeface="Proxima Nova"/>
                <a:cs typeface="Proxima Nova"/>
                <a:sym typeface="Proxima Nova"/>
              </a:rPr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 sz="12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23" name="Google Shape;223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latin typeface="Proxima Nova"/>
                <a:ea typeface="Proxima Nova"/>
                <a:cs typeface="Proxima Nova"/>
                <a:sym typeface="Proxima Nova"/>
              </a:rPr>
              <a:t>Результаты: artifacts/report.json, external_report.json, categories_report.json, data_report.json. Источники: https://spamassassin.apache.org/old/publiccorpus/ ; https://www2.aueb.gr/users/ion/data/enron-spam/ ; https://www2.aueb.gr/users/ion/data/lingspam_public.tar.gz ; https://huggingface.co/datasets/imnim/multiclass-email-classification . Корпус тем синтетический. Внешний teacher-test отсутствует по указанной ссылке.</a:t>
            </a:r>
            <a:endParaRPr sz="12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30" name="Google Shape;230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1200"/>
              <a:t>Титульный слайд</a:t>
            </a:r>
            <a:endParaRPr sz="1200"/>
          </a:p>
        </p:txBody>
      </p:sp>
      <p:sp>
        <p:nvSpPr>
          <p:cNvPr id="237" name="Google Shape;23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. Титульник neo">
  <p:cSld name="12. Титульник neo">
    <p:bg>
      <p:bgPr>
        <a:solidFill>
          <a:schemeClr val="accent2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6531775" y="0"/>
            <a:ext cx="5214899" cy="51435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>
            <a:off x="1331509" y="18000"/>
            <a:ext cx="5200200" cy="5129399"/>
          </a:xfrm>
          <a:prstGeom prst="ellipse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8569715" y="4644201"/>
            <a:ext cx="123500" cy="126366"/>
          </a:xfrm>
          <a:custGeom>
            <a:rect b="b" l="l" r="r" t="t"/>
            <a:pathLst>
              <a:path extrusionOk="0" h="14893" w="14893">
                <a:moveTo>
                  <a:pt x="8005" y="0"/>
                </a:moveTo>
                <a:cubicBezTo>
                  <a:pt x="7819" y="0"/>
                  <a:pt x="7632" y="0"/>
                  <a:pt x="7446" y="0"/>
                </a:cubicBezTo>
                <a:cubicBezTo>
                  <a:pt x="3351" y="0"/>
                  <a:pt x="0" y="3258"/>
                  <a:pt x="0" y="7446"/>
                </a:cubicBezTo>
                <a:cubicBezTo>
                  <a:pt x="0" y="11542"/>
                  <a:pt x="3351" y="14892"/>
                  <a:pt x="7446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7074"/>
                  <a:pt x="14799" y="6795"/>
                  <a:pt x="14799" y="6515"/>
                </a:cubicBezTo>
                <a:cubicBezTo>
                  <a:pt x="11262" y="6236"/>
                  <a:pt x="8470" y="3444"/>
                  <a:pt x="8005" y="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569715" y="4505200"/>
            <a:ext cx="123500" cy="126366"/>
          </a:xfrm>
          <a:custGeom>
            <a:rect b="b" l="l" r="r" t="t"/>
            <a:pathLst>
              <a:path extrusionOk="0" h="14893" w="14893">
                <a:moveTo>
                  <a:pt x="14893" y="7447"/>
                </a:moveTo>
                <a:cubicBezTo>
                  <a:pt x="14893" y="3351"/>
                  <a:pt x="11542" y="0"/>
                  <a:pt x="7446" y="0"/>
                </a:cubicBezTo>
                <a:cubicBezTo>
                  <a:pt x="3351" y="0"/>
                  <a:pt x="0" y="3351"/>
                  <a:pt x="0" y="7447"/>
                </a:cubicBezTo>
                <a:cubicBezTo>
                  <a:pt x="0" y="11542"/>
                  <a:pt x="3351" y="14893"/>
                  <a:pt x="7446" y="14893"/>
                </a:cubicBezTo>
                <a:cubicBezTo>
                  <a:pt x="7632" y="14893"/>
                  <a:pt x="7819" y="14893"/>
                  <a:pt x="8005" y="14893"/>
                </a:cubicBezTo>
                <a:cubicBezTo>
                  <a:pt x="8284" y="11170"/>
                  <a:pt x="11169" y="8284"/>
                  <a:pt x="14799" y="8005"/>
                </a:cubicBezTo>
                <a:cubicBezTo>
                  <a:pt x="14799" y="7819"/>
                  <a:pt x="14893" y="7633"/>
                  <a:pt x="14893" y="7447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/>
          <p:nvPr/>
        </p:nvSpPr>
        <p:spPr>
          <a:xfrm>
            <a:off x="8704783" y="4505200"/>
            <a:ext cx="123508" cy="126366"/>
          </a:xfrm>
          <a:custGeom>
            <a:rect b="b" l="l" r="r" t="t"/>
            <a:pathLst>
              <a:path extrusionOk="0" h="14893" w="14894">
                <a:moveTo>
                  <a:pt x="6516" y="14800"/>
                </a:moveTo>
                <a:cubicBezTo>
                  <a:pt x="6795" y="14893"/>
                  <a:pt x="7075" y="14893"/>
                  <a:pt x="7447" y="14893"/>
                </a:cubicBezTo>
                <a:cubicBezTo>
                  <a:pt x="11542" y="14893"/>
                  <a:pt x="14893" y="11542"/>
                  <a:pt x="14893" y="7447"/>
                </a:cubicBezTo>
                <a:cubicBezTo>
                  <a:pt x="14893" y="3351"/>
                  <a:pt x="11542" y="0"/>
                  <a:pt x="7447" y="0"/>
                </a:cubicBezTo>
                <a:cubicBezTo>
                  <a:pt x="3351" y="0"/>
                  <a:pt x="1" y="3351"/>
                  <a:pt x="1" y="7447"/>
                </a:cubicBezTo>
                <a:cubicBezTo>
                  <a:pt x="1" y="7633"/>
                  <a:pt x="1" y="7819"/>
                  <a:pt x="1" y="8005"/>
                </a:cubicBezTo>
                <a:cubicBezTo>
                  <a:pt x="3538" y="8470"/>
                  <a:pt x="6237" y="11263"/>
                  <a:pt x="6516" y="1480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/>
          <p:nvPr/>
        </p:nvSpPr>
        <p:spPr>
          <a:xfrm>
            <a:off x="8704783" y="4644201"/>
            <a:ext cx="123508" cy="126366"/>
          </a:xfrm>
          <a:custGeom>
            <a:rect b="b" l="l" r="r" t="t"/>
            <a:pathLst>
              <a:path extrusionOk="0" h="14893" w="14894">
                <a:moveTo>
                  <a:pt x="94" y="6422"/>
                </a:moveTo>
                <a:cubicBezTo>
                  <a:pt x="1" y="6795"/>
                  <a:pt x="1" y="7074"/>
                  <a:pt x="1" y="7446"/>
                </a:cubicBezTo>
                <a:cubicBezTo>
                  <a:pt x="1" y="11542"/>
                  <a:pt x="3351" y="14892"/>
                  <a:pt x="7447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3258"/>
                  <a:pt x="11542" y="0"/>
                  <a:pt x="7447" y="0"/>
                </a:cubicBezTo>
                <a:cubicBezTo>
                  <a:pt x="7075" y="0"/>
                  <a:pt x="6795" y="0"/>
                  <a:pt x="6423" y="0"/>
                </a:cubicBezTo>
                <a:cubicBezTo>
                  <a:pt x="6051" y="3351"/>
                  <a:pt x="3351" y="6050"/>
                  <a:pt x="94" y="6422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.Фон">
  <p:cSld name="1.Фон">
    <p:bg>
      <p:bgPr>
        <a:solidFill>
          <a:schemeClr val="lt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. Фон dark">
  <p:cSld name="1_11. Фон dark">
    <p:bg>
      <p:bgPr>
        <a:solidFill>
          <a:schemeClr val="lt2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Определение">
  <p:cSld name="2.Определение">
    <p:bg>
      <p:bgPr>
        <a:solidFill>
          <a:schemeClr val="lt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F2F2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5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F2F2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5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noFill/>
          <a:ln cap="flat" cmpd="sng" w="25400">
            <a:solidFill>
              <a:srgbClr val="EAEA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.Титульник wihte">
  <p:cSld name="3.Титульник wihte">
    <p:bg>
      <p:bgPr>
        <a:solidFill>
          <a:schemeClr val="lt1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/>
          <p:nvPr/>
        </p:nvSpPr>
        <p:spPr>
          <a:xfrm>
            <a:off x="6531775" y="0"/>
            <a:ext cx="5214899" cy="5143500"/>
          </a:xfrm>
          <a:prstGeom prst="ellipse">
            <a:avLst/>
          </a:prstGeom>
          <a:solidFill>
            <a:schemeClr val="accent6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6"/>
          <p:cNvSpPr/>
          <p:nvPr/>
        </p:nvSpPr>
        <p:spPr>
          <a:xfrm>
            <a:off x="1331509" y="18000"/>
            <a:ext cx="5200200" cy="5129399"/>
          </a:xfrm>
          <a:prstGeom prst="ellipse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6"/>
          <p:cNvSpPr/>
          <p:nvPr/>
        </p:nvSpPr>
        <p:spPr>
          <a:xfrm>
            <a:off x="8569715" y="4675460"/>
            <a:ext cx="123500" cy="126366"/>
          </a:xfrm>
          <a:custGeom>
            <a:rect b="b" l="l" r="r" t="t"/>
            <a:pathLst>
              <a:path extrusionOk="0" h="14893" w="14893">
                <a:moveTo>
                  <a:pt x="8005" y="0"/>
                </a:moveTo>
                <a:cubicBezTo>
                  <a:pt x="7819" y="0"/>
                  <a:pt x="7632" y="0"/>
                  <a:pt x="7446" y="0"/>
                </a:cubicBezTo>
                <a:cubicBezTo>
                  <a:pt x="3351" y="0"/>
                  <a:pt x="0" y="3258"/>
                  <a:pt x="0" y="7446"/>
                </a:cubicBezTo>
                <a:cubicBezTo>
                  <a:pt x="0" y="11542"/>
                  <a:pt x="3351" y="14892"/>
                  <a:pt x="7446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7074"/>
                  <a:pt x="14799" y="6795"/>
                  <a:pt x="14799" y="6515"/>
                </a:cubicBezTo>
                <a:cubicBezTo>
                  <a:pt x="11262" y="6236"/>
                  <a:pt x="8470" y="3444"/>
                  <a:pt x="8005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6"/>
          <p:cNvSpPr/>
          <p:nvPr/>
        </p:nvSpPr>
        <p:spPr>
          <a:xfrm>
            <a:off x="8569715" y="4536459"/>
            <a:ext cx="123500" cy="126366"/>
          </a:xfrm>
          <a:custGeom>
            <a:rect b="b" l="l" r="r" t="t"/>
            <a:pathLst>
              <a:path extrusionOk="0" h="14893" w="14893">
                <a:moveTo>
                  <a:pt x="14893" y="7447"/>
                </a:moveTo>
                <a:cubicBezTo>
                  <a:pt x="14893" y="3351"/>
                  <a:pt x="11542" y="0"/>
                  <a:pt x="7446" y="0"/>
                </a:cubicBezTo>
                <a:cubicBezTo>
                  <a:pt x="3351" y="0"/>
                  <a:pt x="0" y="3351"/>
                  <a:pt x="0" y="7447"/>
                </a:cubicBezTo>
                <a:cubicBezTo>
                  <a:pt x="0" y="11542"/>
                  <a:pt x="3351" y="14893"/>
                  <a:pt x="7446" y="14893"/>
                </a:cubicBezTo>
                <a:cubicBezTo>
                  <a:pt x="7632" y="14893"/>
                  <a:pt x="7819" y="14893"/>
                  <a:pt x="8005" y="14893"/>
                </a:cubicBezTo>
                <a:cubicBezTo>
                  <a:pt x="8284" y="11170"/>
                  <a:pt x="11169" y="8284"/>
                  <a:pt x="14799" y="8005"/>
                </a:cubicBezTo>
                <a:cubicBezTo>
                  <a:pt x="14799" y="7819"/>
                  <a:pt x="14893" y="7633"/>
                  <a:pt x="14893" y="7447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6"/>
          <p:cNvSpPr/>
          <p:nvPr/>
        </p:nvSpPr>
        <p:spPr>
          <a:xfrm>
            <a:off x="8704783" y="4536459"/>
            <a:ext cx="123508" cy="126366"/>
          </a:xfrm>
          <a:custGeom>
            <a:rect b="b" l="l" r="r" t="t"/>
            <a:pathLst>
              <a:path extrusionOk="0" h="14893" w="14894">
                <a:moveTo>
                  <a:pt x="6516" y="14800"/>
                </a:moveTo>
                <a:cubicBezTo>
                  <a:pt x="6795" y="14893"/>
                  <a:pt x="7075" y="14893"/>
                  <a:pt x="7447" y="14893"/>
                </a:cubicBezTo>
                <a:cubicBezTo>
                  <a:pt x="11542" y="14893"/>
                  <a:pt x="14893" y="11542"/>
                  <a:pt x="14893" y="7447"/>
                </a:cubicBezTo>
                <a:cubicBezTo>
                  <a:pt x="14893" y="3351"/>
                  <a:pt x="11542" y="0"/>
                  <a:pt x="7447" y="0"/>
                </a:cubicBezTo>
                <a:cubicBezTo>
                  <a:pt x="3351" y="0"/>
                  <a:pt x="1" y="3351"/>
                  <a:pt x="1" y="7447"/>
                </a:cubicBezTo>
                <a:cubicBezTo>
                  <a:pt x="1" y="7633"/>
                  <a:pt x="1" y="7819"/>
                  <a:pt x="1" y="8005"/>
                </a:cubicBezTo>
                <a:cubicBezTo>
                  <a:pt x="3538" y="8470"/>
                  <a:pt x="6237" y="11263"/>
                  <a:pt x="6516" y="1480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6"/>
          <p:cNvSpPr/>
          <p:nvPr/>
        </p:nvSpPr>
        <p:spPr>
          <a:xfrm>
            <a:off x="8704783" y="4675460"/>
            <a:ext cx="123508" cy="126366"/>
          </a:xfrm>
          <a:custGeom>
            <a:rect b="b" l="l" r="r" t="t"/>
            <a:pathLst>
              <a:path extrusionOk="0" h="14893" w="14894">
                <a:moveTo>
                  <a:pt x="94" y="6422"/>
                </a:moveTo>
                <a:cubicBezTo>
                  <a:pt x="1" y="6795"/>
                  <a:pt x="1" y="7074"/>
                  <a:pt x="1" y="7446"/>
                </a:cubicBezTo>
                <a:cubicBezTo>
                  <a:pt x="1" y="11542"/>
                  <a:pt x="3351" y="14892"/>
                  <a:pt x="7447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3258"/>
                  <a:pt x="11542" y="0"/>
                  <a:pt x="7447" y="0"/>
                </a:cubicBezTo>
                <a:cubicBezTo>
                  <a:pt x="7075" y="0"/>
                  <a:pt x="6795" y="0"/>
                  <a:pt x="6423" y="0"/>
                </a:cubicBezTo>
                <a:cubicBezTo>
                  <a:pt x="6051" y="3351"/>
                  <a:pt x="3351" y="6050"/>
                  <a:pt x="94" y="6422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.Отбивка wihte">
  <p:cSld name="4.Отбивка wihte">
    <p:bg>
      <p:bgPr>
        <a:solidFill>
          <a:schemeClr val="lt1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/>
          <p:nvPr/>
        </p:nvSpPr>
        <p:spPr>
          <a:xfrm>
            <a:off x="5737860" y="0"/>
            <a:ext cx="1697850" cy="1699200"/>
          </a:xfrm>
          <a:prstGeom prst="ellipse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7"/>
          <p:cNvSpPr/>
          <p:nvPr/>
        </p:nvSpPr>
        <p:spPr>
          <a:xfrm>
            <a:off x="7446150" y="0"/>
            <a:ext cx="1697850" cy="1699200"/>
          </a:xfrm>
          <a:prstGeom prst="ellipse">
            <a:avLst/>
          </a:prstGeom>
          <a:solidFill>
            <a:schemeClr val="accent6"/>
          </a:solidFill>
          <a:ln cap="flat" cmpd="sng" w="285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7"/>
          <p:cNvSpPr/>
          <p:nvPr/>
        </p:nvSpPr>
        <p:spPr>
          <a:xfrm>
            <a:off x="5737860" y="1722150"/>
            <a:ext cx="1697850" cy="1699200"/>
          </a:xfrm>
          <a:prstGeom prst="ellipse">
            <a:avLst/>
          </a:prstGeom>
          <a:solidFill>
            <a:schemeClr val="accent6"/>
          </a:solidFill>
          <a:ln cap="flat" cmpd="sng" w="285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7"/>
          <p:cNvSpPr/>
          <p:nvPr/>
        </p:nvSpPr>
        <p:spPr>
          <a:xfrm>
            <a:off x="7446150" y="1722150"/>
            <a:ext cx="1697850" cy="1699200"/>
          </a:xfrm>
          <a:prstGeom prst="ellipse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7"/>
          <p:cNvSpPr/>
          <p:nvPr/>
        </p:nvSpPr>
        <p:spPr>
          <a:xfrm>
            <a:off x="5737860" y="3429000"/>
            <a:ext cx="1697850" cy="1699200"/>
          </a:xfrm>
          <a:prstGeom prst="ellipse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7"/>
          <p:cNvSpPr/>
          <p:nvPr/>
        </p:nvSpPr>
        <p:spPr>
          <a:xfrm>
            <a:off x="7446150" y="3429000"/>
            <a:ext cx="1697850" cy="1699200"/>
          </a:xfrm>
          <a:prstGeom prst="ellipse">
            <a:avLst/>
          </a:prstGeom>
          <a:solidFill>
            <a:schemeClr val="accent6"/>
          </a:solidFill>
          <a:ln cap="flat" cmpd="sng" w="285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. Определение wihte">
  <p:cSld name="5. Определение wihte">
    <p:bg>
      <p:bgPr>
        <a:solidFill>
          <a:schemeClr val="lt1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8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8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F3F4F7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.Титульник dark">
  <p:cSld name="6.Титульник dark">
    <p:bg>
      <p:bgPr>
        <a:solidFill>
          <a:schemeClr val="lt2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6531775" y="0"/>
            <a:ext cx="5214899" cy="5143500"/>
          </a:xfrm>
          <a:prstGeom prst="ellipse">
            <a:avLst/>
          </a:prstGeom>
          <a:solidFill>
            <a:srgbClr val="2F3035"/>
          </a:solidFill>
          <a:ln cap="flat" cmpd="sng" w="9525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9"/>
          <p:cNvSpPr/>
          <p:nvPr/>
        </p:nvSpPr>
        <p:spPr>
          <a:xfrm>
            <a:off x="1331509" y="18000"/>
            <a:ext cx="5200200" cy="5129399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9"/>
          <p:cNvSpPr/>
          <p:nvPr/>
        </p:nvSpPr>
        <p:spPr>
          <a:xfrm>
            <a:off x="8569715" y="4644200"/>
            <a:ext cx="123500" cy="126366"/>
          </a:xfrm>
          <a:custGeom>
            <a:rect b="b" l="l" r="r" t="t"/>
            <a:pathLst>
              <a:path extrusionOk="0" h="14893" w="14893">
                <a:moveTo>
                  <a:pt x="8005" y="0"/>
                </a:moveTo>
                <a:cubicBezTo>
                  <a:pt x="7819" y="0"/>
                  <a:pt x="7632" y="0"/>
                  <a:pt x="7446" y="0"/>
                </a:cubicBezTo>
                <a:cubicBezTo>
                  <a:pt x="3351" y="0"/>
                  <a:pt x="0" y="3258"/>
                  <a:pt x="0" y="7446"/>
                </a:cubicBezTo>
                <a:cubicBezTo>
                  <a:pt x="0" y="11542"/>
                  <a:pt x="3351" y="14892"/>
                  <a:pt x="7446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7074"/>
                  <a:pt x="14799" y="6795"/>
                  <a:pt x="14799" y="6515"/>
                </a:cubicBezTo>
                <a:cubicBezTo>
                  <a:pt x="11262" y="6236"/>
                  <a:pt x="8470" y="3444"/>
                  <a:pt x="8005" y="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9"/>
          <p:cNvSpPr/>
          <p:nvPr/>
        </p:nvSpPr>
        <p:spPr>
          <a:xfrm>
            <a:off x="8569715" y="4505199"/>
            <a:ext cx="123500" cy="126366"/>
          </a:xfrm>
          <a:custGeom>
            <a:rect b="b" l="l" r="r" t="t"/>
            <a:pathLst>
              <a:path extrusionOk="0" h="14893" w="14893">
                <a:moveTo>
                  <a:pt x="14893" y="7447"/>
                </a:moveTo>
                <a:cubicBezTo>
                  <a:pt x="14893" y="3351"/>
                  <a:pt x="11542" y="0"/>
                  <a:pt x="7446" y="0"/>
                </a:cubicBezTo>
                <a:cubicBezTo>
                  <a:pt x="3351" y="0"/>
                  <a:pt x="0" y="3351"/>
                  <a:pt x="0" y="7447"/>
                </a:cubicBezTo>
                <a:cubicBezTo>
                  <a:pt x="0" y="11542"/>
                  <a:pt x="3351" y="14893"/>
                  <a:pt x="7446" y="14893"/>
                </a:cubicBezTo>
                <a:cubicBezTo>
                  <a:pt x="7632" y="14893"/>
                  <a:pt x="7819" y="14893"/>
                  <a:pt x="8005" y="14893"/>
                </a:cubicBezTo>
                <a:cubicBezTo>
                  <a:pt x="8284" y="11170"/>
                  <a:pt x="11169" y="8284"/>
                  <a:pt x="14799" y="8005"/>
                </a:cubicBezTo>
                <a:cubicBezTo>
                  <a:pt x="14799" y="7819"/>
                  <a:pt x="14893" y="7633"/>
                  <a:pt x="14893" y="7447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9"/>
          <p:cNvSpPr/>
          <p:nvPr/>
        </p:nvSpPr>
        <p:spPr>
          <a:xfrm>
            <a:off x="8704783" y="4505199"/>
            <a:ext cx="123508" cy="126366"/>
          </a:xfrm>
          <a:custGeom>
            <a:rect b="b" l="l" r="r" t="t"/>
            <a:pathLst>
              <a:path extrusionOk="0" h="14893" w="14894">
                <a:moveTo>
                  <a:pt x="6516" y="14800"/>
                </a:moveTo>
                <a:cubicBezTo>
                  <a:pt x="6795" y="14893"/>
                  <a:pt x="7075" y="14893"/>
                  <a:pt x="7447" y="14893"/>
                </a:cubicBezTo>
                <a:cubicBezTo>
                  <a:pt x="11542" y="14893"/>
                  <a:pt x="14893" y="11542"/>
                  <a:pt x="14893" y="7447"/>
                </a:cubicBezTo>
                <a:cubicBezTo>
                  <a:pt x="14893" y="3351"/>
                  <a:pt x="11542" y="0"/>
                  <a:pt x="7447" y="0"/>
                </a:cubicBezTo>
                <a:cubicBezTo>
                  <a:pt x="3351" y="0"/>
                  <a:pt x="1" y="3351"/>
                  <a:pt x="1" y="7447"/>
                </a:cubicBezTo>
                <a:cubicBezTo>
                  <a:pt x="1" y="7633"/>
                  <a:pt x="1" y="7819"/>
                  <a:pt x="1" y="8005"/>
                </a:cubicBezTo>
                <a:cubicBezTo>
                  <a:pt x="3538" y="8470"/>
                  <a:pt x="6237" y="11263"/>
                  <a:pt x="6516" y="1480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9"/>
          <p:cNvSpPr/>
          <p:nvPr/>
        </p:nvSpPr>
        <p:spPr>
          <a:xfrm>
            <a:off x="8704783" y="4644200"/>
            <a:ext cx="123508" cy="126366"/>
          </a:xfrm>
          <a:custGeom>
            <a:rect b="b" l="l" r="r" t="t"/>
            <a:pathLst>
              <a:path extrusionOk="0" h="14893" w="14894">
                <a:moveTo>
                  <a:pt x="94" y="6422"/>
                </a:moveTo>
                <a:cubicBezTo>
                  <a:pt x="1" y="6795"/>
                  <a:pt x="1" y="7074"/>
                  <a:pt x="1" y="7446"/>
                </a:cubicBezTo>
                <a:cubicBezTo>
                  <a:pt x="1" y="11542"/>
                  <a:pt x="3351" y="14892"/>
                  <a:pt x="7447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3258"/>
                  <a:pt x="11542" y="0"/>
                  <a:pt x="7447" y="0"/>
                </a:cubicBezTo>
                <a:cubicBezTo>
                  <a:pt x="7075" y="0"/>
                  <a:pt x="6795" y="0"/>
                  <a:pt x="6423" y="0"/>
                </a:cubicBezTo>
                <a:cubicBezTo>
                  <a:pt x="6051" y="3351"/>
                  <a:pt x="3351" y="6050"/>
                  <a:pt x="94" y="6422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. Отбивка dark">
  <p:cSld name="7. Отбивка dark">
    <p:bg>
      <p:bgPr>
        <a:solidFill>
          <a:schemeClr val="lt2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/>
          <p:nvPr/>
        </p:nvSpPr>
        <p:spPr>
          <a:xfrm>
            <a:off x="5737860" y="0"/>
            <a:ext cx="1697850" cy="16992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0"/>
          <p:cNvSpPr/>
          <p:nvPr/>
        </p:nvSpPr>
        <p:spPr>
          <a:xfrm>
            <a:off x="7446150" y="0"/>
            <a:ext cx="1697850" cy="1699200"/>
          </a:xfrm>
          <a:prstGeom prst="ellipse">
            <a:avLst/>
          </a:prstGeom>
          <a:solidFill>
            <a:srgbClr val="2F3035"/>
          </a:solidFill>
          <a:ln cap="flat" cmpd="sng" w="28575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0"/>
          <p:cNvSpPr/>
          <p:nvPr/>
        </p:nvSpPr>
        <p:spPr>
          <a:xfrm>
            <a:off x="5737860" y="1722150"/>
            <a:ext cx="1697850" cy="1699200"/>
          </a:xfrm>
          <a:prstGeom prst="ellipse">
            <a:avLst/>
          </a:prstGeom>
          <a:solidFill>
            <a:srgbClr val="2F3035"/>
          </a:solidFill>
          <a:ln cap="flat" cmpd="sng" w="28575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"/>
          <p:cNvSpPr/>
          <p:nvPr/>
        </p:nvSpPr>
        <p:spPr>
          <a:xfrm>
            <a:off x="7446150" y="1722150"/>
            <a:ext cx="1697850" cy="16992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0"/>
          <p:cNvSpPr/>
          <p:nvPr/>
        </p:nvSpPr>
        <p:spPr>
          <a:xfrm>
            <a:off x="5737860" y="3429000"/>
            <a:ext cx="1697850" cy="16992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0"/>
          <p:cNvSpPr/>
          <p:nvPr/>
        </p:nvSpPr>
        <p:spPr>
          <a:xfrm>
            <a:off x="7446150" y="3429000"/>
            <a:ext cx="1697850" cy="1699200"/>
          </a:xfrm>
          <a:prstGeom prst="ellipse">
            <a:avLst/>
          </a:prstGeom>
          <a:solidFill>
            <a:srgbClr val="2F3035"/>
          </a:solidFill>
          <a:ln cap="flat" cmpd="sng" w="28575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. Определение dark">
  <p:cSld name="8. Определение dark">
    <p:bg>
      <p:bgPr>
        <a:solidFill>
          <a:schemeClr val="lt2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1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1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2F3035"/>
          </a:solidFill>
          <a:ln cap="flat" cmpd="sng" w="2540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. Определение dark">
  <p:cSld name="9. Определение dark">
    <p:bg>
      <p:bgPr>
        <a:solidFill>
          <a:schemeClr val="lt2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2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2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noFill/>
          <a:ln cap="flat" cmpd="sng" w="25400">
            <a:solidFill>
              <a:srgbClr val="4C4C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. Фон dark">
  <p:cSld name="10. Фон dark">
    <p:bg>
      <p:bgPr>
        <a:solidFill>
          <a:schemeClr val="lt2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3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. Титульник pro">
  <p:cSld name="17. Титульник pro">
    <p:bg>
      <p:bgPr>
        <a:solidFill>
          <a:srgbClr val="0066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/>
          <p:nvPr/>
        </p:nvSpPr>
        <p:spPr>
          <a:xfrm>
            <a:off x="6531775" y="0"/>
            <a:ext cx="5214899" cy="5143500"/>
          </a:xfrm>
          <a:prstGeom prst="ellipse">
            <a:avLst/>
          </a:prstGeom>
          <a:solidFill>
            <a:srgbClr val="217AFF"/>
          </a:solidFill>
          <a:ln cap="flat" cmpd="sng" w="9525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4"/>
          <p:cNvSpPr/>
          <p:nvPr/>
        </p:nvSpPr>
        <p:spPr>
          <a:xfrm>
            <a:off x="1331509" y="18000"/>
            <a:ext cx="5200200" cy="5129399"/>
          </a:xfrm>
          <a:prstGeom prst="ellipse">
            <a:avLst/>
          </a:prstGeom>
          <a:noFill/>
          <a:ln cap="flat" cmpd="sng" w="19050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8569715" y="4644200"/>
            <a:ext cx="123500" cy="126366"/>
          </a:xfrm>
          <a:custGeom>
            <a:rect b="b" l="l" r="r" t="t"/>
            <a:pathLst>
              <a:path extrusionOk="0" h="14893" w="14893">
                <a:moveTo>
                  <a:pt x="8005" y="0"/>
                </a:moveTo>
                <a:cubicBezTo>
                  <a:pt x="7819" y="0"/>
                  <a:pt x="7632" y="0"/>
                  <a:pt x="7446" y="0"/>
                </a:cubicBezTo>
                <a:cubicBezTo>
                  <a:pt x="3351" y="0"/>
                  <a:pt x="0" y="3258"/>
                  <a:pt x="0" y="7446"/>
                </a:cubicBezTo>
                <a:cubicBezTo>
                  <a:pt x="0" y="11542"/>
                  <a:pt x="3351" y="14892"/>
                  <a:pt x="7446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7074"/>
                  <a:pt x="14799" y="6795"/>
                  <a:pt x="14799" y="6515"/>
                </a:cubicBezTo>
                <a:cubicBezTo>
                  <a:pt x="11262" y="6236"/>
                  <a:pt x="8470" y="3444"/>
                  <a:pt x="8005" y="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4"/>
          <p:cNvSpPr/>
          <p:nvPr/>
        </p:nvSpPr>
        <p:spPr>
          <a:xfrm>
            <a:off x="8569715" y="4505199"/>
            <a:ext cx="123500" cy="126366"/>
          </a:xfrm>
          <a:custGeom>
            <a:rect b="b" l="l" r="r" t="t"/>
            <a:pathLst>
              <a:path extrusionOk="0" h="14893" w="14893">
                <a:moveTo>
                  <a:pt x="14893" y="7447"/>
                </a:moveTo>
                <a:cubicBezTo>
                  <a:pt x="14893" y="3351"/>
                  <a:pt x="11542" y="0"/>
                  <a:pt x="7446" y="0"/>
                </a:cubicBezTo>
                <a:cubicBezTo>
                  <a:pt x="3351" y="0"/>
                  <a:pt x="0" y="3351"/>
                  <a:pt x="0" y="7447"/>
                </a:cubicBezTo>
                <a:cubicBezTo>
                  <a:pt x="0" y="11542"/>
                  <a:pt x="3351" y="14893"/>
                  <a:pt x="7446" y="14893"/>
                </a:cubicBezTo>
                <a:cubicBezTo>
                  <a:pt x="7632" y="14893"/>
                  <a:pt x="7819" y="14893"/>
                  <a:pt x="8005" y="14893"/>
                </a:cubicBezTo>
                <a:cubicBezTo>
                  <a:pt x="8284" y="11170"/>
                  <a:pt x="11169" y="8284"/>
                  <a:pt x="14799" y="8005"/>
                </a:cubicBezTo>
                <a:cubicBezTo>
                  <a:pt x="14799" y="7819"/>
                  <a:pt x="14893" y="7633"/>
                  <a:pt x="14893" y="7447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8704783" y="4505199"/>
            <a:ext cx="123508" cy="126366"/>
          </a:xfrm>
          <a:custGeom>
            <a:rect b="b" l="l" r="r" t="t"/>
            <a:pathLst>
              <a:path extrusionOk="0" h="14893" w="14894">
                <a:moveTo>
                  <a:pt x="6516" y="14800"/>
                </a:moveTo>
                <a:cubicBezTo>
                  <a:pt x="6795" y="14893"/>
                  <a:pt x="7075" y="14893"/>
                  <a:pt x="7447" y="14893"/>
                </a:cubicBezTo>
                <a:cubicBezTo>
                  <a:pt x="11542" y="14893"/>
                  <a:pt x="14893" y="11542"/>
                  <a:pt x="14893" y="7447"/>
                </a:cubicBezTo>
                <a:cubicBezTo>
                  <a:pt x="14893" y="3351"/>
                  <a:pt x="11542" y="0"/>
                  <a:pt x="7447" y="0"/>
                </a:cubicBezTo>
                <a:cubicBezTo>
                  <a:pt x="3351" y="0"/>
                  <a:pt x="1" y="3351"/>
                  <a:pt x="1" y="7447"/>
                </a:cubicBezTo>
                <a:cubicBezTo>
                  <a:pt x="1" y="7633"/>
                  <a:pt x="1" y="7819"/>
                  <a:pt x="1" y="8005"/>
                </a:cubicBezTo>
                <a:cubicBezTo>
                  <a:pt x="3538" y="8470"/>
                  <a:pt x="6237" y="11263"/>
                  <a:pt x="6516" y="1480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/>
          <p:nvPr/>
        </p:nvSpPr>
        <p:spPr>
          <a:xfrm>
            <a:off x="8704783" y="4644200"/>
            <a:ext cx="123508" cy="126366"/>
          </a:xfrm>
          <a:custGeom>
            <a:rect b="b" l="l" r="r" t="t"/>
            <a:pathLst>
              <a:path extrusionOk="0" h="14893" w="14894">
                <a:moveTo>
                  <a:pt x="94" y="6422"/>
                </a:moveTo>
                <a:cubicBezTo>
                  <a:pt x="1" y="6795"/>
                  <a:pt x="1" y="7074"/>
                  <a:pt x="1" y="7446"/>
                </a:cubicBezTo>
                <a:cubicBezTo>
                  <a:pt x="1" y="11542"/>
                  <a:pt x="3351" y="14892"/>
                  <a:pt x="7447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3258"/>
                  <a:pt x="11542" y="0"/>
                  <a:pt x="7447" y="0"/>
                </a:cubicBezTo>
                <a:cubicBezTo>
                  <a:pt x="7075" y="0"/>
                  <a:pt x="6795" y="0"/>
                  <a:pt x="6423" y="0"/>
                </a:cubicBezTo>
                <a:cubicBezTo>
                  <a:pt x="6051" y="3351"/>
                  <a:pt x="3351" y="6050"/>
                  <a:pt x="94" y="6422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. Отбивка pro">
  <p:cSld name="18. Отбивка pro">
    <p:bg>
      <p:bgPr>
        <a:solidFill>
          <a:srgbClr val="0066FF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/>
          <p:nvPr/>
        </p:nvSpPr>
        <p:spPr>
          <a:xfrm>
            <a:off x="5737860" y="0"/>
            <a:ext cx="1697850" cy="1699200"/>
          </a:xfrm>
          <a:prstGeom prst="ellipse">
            <a:avLst/>
          </a:prstGeom>
          <a:noFill/>
          <a:ln cap="flat" cmpd="sng" w="19050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7446150" y="0"/>
            <a:ext cx="1697850" cy="1699200"/>
          </a:xfrm>
          <a:prstGeom prst="ellipse">
            <a:avLst/>
          </a:prstGeom>
          <a:solidFill>
            <a:srgbClr val="217AFF"/>
          </a:solidFill>
          <a:ln cap="flat" cmpd="sng" w="28575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5737860" y="1722150"/>
            <a:ext cx="1697850" cy="1699200"/>
          </a:xfrm>
          <a:prstGeom prst="ellipse">
            <a:avLst/>
          </a:prstGeom>
          <a:solidFill>
            <a:srgbClr val="217AFF"/>
          </a:solidFill>
          <a:ln cap="flat" cmpd="sng" w="28575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7446150" y="1722150"/>
            <a:ext cx="1697850" cy="1699200"/>
          </a:xfrm>
          <a:prstGeom prst="ellipse">
            <a:avLst/>
          </a:prstGeom>
          <a:noFill/>
          <a:ln cap="flat" cmpd="sng" w="19050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5737860" y="3429000"/>
            <a:ext cx="1697850" cy="1699200"/>
          </a:xfrm>
          <a:prstGeom prst="ellipse">
            <a:avLst/>
          </a:prstGeom>
          <a:noFill/>
          <a:ln cap="flat" cmpd="sng" w="19050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7446150" y="3429000"/>
            <a:ext cx="1697850" cy="1699200"/>
          </a:xfrm>
          <a:prstGeom prst="ellipse">
            <a:avLst/>
          </a:prstGeom>
          <a:solidFill>
            <a:srgbClr val="217AFF"/>
          </a:solidFill>
          <a:ln cap="flat" cmpd="sng" w="28575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. Определение pro">
  <p:cSld name="19. Определение pro">
    <p:bg>
      <p:bgPr>
        <a:solidFill>
          <a:srgbClr val="0066FF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217AFF"/>
          </a:solidFill>
          <a:ln cap="flat" cmpd="sng" w="25400">
            <a:solidFill>
              <a:srgbClr val="217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. Отбивка 2 pro">
  <p:cSld name="20. Отбивка 2 pro">
    <p:bg>
      <p:bgPr>
        <a:solidFill>
          <a:srgbClr val="0066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7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. Отбивка 2 pro">
  <p:cSld name="1_20. Отбивка 2 pro">
    <p:bg>
      <p:bgPr>
        <a:solidFill>
          <a:srgbClr val="0066FF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. Фон dark 1">
  <p:cSld name="11. Фон dark">
    <p:bg>
      <p:bgPr>
        <a:solidFill>
          <a:schemeClr val="l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. Фон dark 1 1">
  <p:cSld name="11. Фоныыыыыы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. Определение neo">
  <p:cSld name="14. Определение neo">
    <p:bg>
      <p:bgPr>
        <a:solidFill>
          <a:schemeClr val="accent2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1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1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1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. Определение neo 1">
  <p:cSld name="14. Определение">
    <p:bg>
      <p:bgPr>
        <a:solidFill>
          <a:schemeClr val="accent2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2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2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. Отбивка 2 neo">
  <p:cSld name="15. Отбивка 2 neo">
    <p:bg>
      <p:bgPr>
        <a:solidFill>
          <a:schemeClr val="accent2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3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3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. Фон neo">
  <p:cSld name="16. Фон neo">
    <p:bg>
      <p:bgPr>
        <a:solidFill>
          <a:schemeClr val="accent2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. Фон neo 1">
  <p:cSld name="16. Фон ">
    <p:bg>
      <p:bgPr>
        <a:solidFill>
          <a:schemeClr val="accent2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Andrey123654/antispam-ml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mkb251-razhnovap-antispam.onrender.com" TargetMode="External"/><Relationship Id="rId4" Type="http://schemas.openxmlformats.org/officeDocument/2006/relationships/image" Target="../media/image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6"/>
          <p:cNvSpPr/>
          <p:nvPr/>
        </p:nvSpPr>
        <p:spPr>
          <a:xfrm>
            <a:off x="8549243" y="4675459"/>
            <a:ext cx="123500" cy="126366"/>
          </a:xfrm>
          <a:custGeom>
            <a:rect b="b" l="l" r="r" t="t"/>
            <a:pathLst>
              <a:path extrusionOk="0" h="14893" w="14893">
                <a:moveTo>
                  <a:pt x="8005" y="0"/>
                </a:moveTo>
                <a:cubicBezTo>
                  <a:pt x="7819" y="0"/>
                  <a:pt x="7632" y="0"/>
                  <a:pt x="7446" y="0"/>
                </a:cubicBezTo>
                <a:cubicBezTo>
                  <a:pt x="3351" y="0"/>
                  <a:pt x="0" y="3258"/>
                  <a:pt x="0" y="7446"/>
                </a:cubicBezTo>
                <a:cubicBezTo>
                  <a:pt x="0" y="11542"/>
                  <a:pt x="3351" y="14892"/>
                  <a:pt x="7446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7074"/>
                  <a:pt x="14799" y="6795"/>
                  <a:pt x="14799" y="6515"/>
                </a:cubicBezTo>
                <a:cubicBezTo>
                  <a:pt x="11262" y="6236"/>
                  <a:pt x="8470" y="3444"/>
                  <a:pt x="8005" y="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6"/>
          <p:cNvSpPr/>
          <p:nvPr/>
        </p:nvSpPr>
        <p:spPr>
          <a:xfrm>
            <a:off x="8549243" y="4536458"/>
            <a:ext cx="123500" cy="126366"/>
          </a:xfrm>
          <a:custGeom>
            <a:rect b="b" l="l" r="r" t="t"/>
            <a:pathLst>
              <a:path extrusionOk="0" h="14893" w="14893">
                <a:moveTo>
                  <a:pt x="14893" y="7447"/>
                </a:moveTo>
                <a:cubicBezTo>
                  <a:pt x="14893" y="3351"/>
                  <a:pt x="11542" y="0"/>
                  <a:pt x="7446" y="0"/>
                </a:cubicBezTo>
                <a:cubicBezTo>
                  <a:pt x="3351" y="0"/>
                  <a:pt x="0" y="3351"/>
                  <a:pt x="0" y="7447"/>
                </a:cubicBezTo>
                <a:cubicBezTo>
                  <a:pt x="0" y="11542"/>
                  <a:pt x="3351" y="14893"/>
                  <a:pt x="7446" y="14893"/>
                </a:cubicBezTo>
                <a:cubicBezTo>
                  <a:pt x="7632" y="14893"/>
                  <a:pt x="7819" y="14893"/>
                  <a:pt x="8005" y="14893"/>
                </a:cubicBezTo>
                <a:cubicBezTo>
                  <a:pt x="8284" y="11170"/>
                  <a:pt x="11169" y="8284"/>
                  <a:pt x="14799" y="8005"/>
                </a:cubicBezTo>
                <a:cubicBezTo>
                  <a:pt x="14799" y="7819"/>
                  <a:pt x="14893" y="7633"/>
                  <a:pt x="14893" y="7447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6"/>
          <p:cNvSpPr/>
          <p:nvPr/>
        </p:nvSpPr>
        <p:spPr>
          <a:xfrm>
            <a:off x="8684311" y="4536458"/>
            <a:ext cx="123508" cy="126366"/>
          </a:xfrm>
          <a:custGeom>
            <a:rect b="b" l="l" r="r" t="t"/>
            <a:pathLst>
              <a:path extrusionOk="0" h="14893" w="14894">
                <a:moveTo>
                  <a:pt x="6516" y="14800"/>
                </a:moveTo>
                <a:cubicBezTo>
                  <a:pt x="6795" y="14893"/>
                  <a:pt x="7075" y="14893"/>
                  <a:pt x="7447" y="14893"/>
                </a:cubicBezTo>
                <a:cubicBezTo>
                  <a:pt x="11542" y="14893"/>
                  <a:pt x="14893" y="11542"/>
                  <a:pt x="14893" y="7447"/>
                </a:cubicBezTo>
                <a:cubicBezTo>
                  <a:pt x="14893" y="3351"/>
                  <a:pt x="11542" y="0"/>
                  <a:pt x="7447" y="0"/>
                </a:cubicBezTo>
                <a:cubicBezTo>
                  <a:pt x="3351" y="0"/>
                  <a:pt x="1" y="3351"/>
                  <a:pt x="1" y="7447"/>
                </a:cubicBezTo>
                <a:cubicBezTo>
                  <a:pt x="1" y="7633"/>
                  <a:pt x="1" y="7819"/>
                  <a:pt x="1" y="8005"/>
                </a:cubicBezTo>
                <a:cubicBezTo>
                  <a:pt x="3538" y="8470"/>
                  <a:pt x="6237" y="11263"/>
                  <a:pt x="6516" y="1480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8684311" y="4675459"/>
            <a:ext cx="123508" cy="126366"/>
          </a:xfrm>
          <a:custGeom>
            <a:rect b="b" l="l" r="r" t="t"/>
            <a:pathLst>
              <a:path extrusionOk="0" h="14893" w="14894">
                <a:moveTo>
                  <a:pt x="94" y="6422"/>
                </a:moveTo>
                <a:cubicBezTo>
                  <a:pt x="1" y="6795"/>
                  <a:pt x="1" y="7074"/>
                  <a:pt x="1" y="7446"/>
                </a:cubicBezTo>
                <a:cubicBezTo>
                  <a:pt x="1" y="11542"/>
                  <a:pt x="3351" y="14892"/>
                  <a:pt x="7447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3258"/>
                  <a:pt x="11542" y="0"/>
                  <a:pt x="7447" y="0"/>
                </a:cubicBezTo>
                <a:cubicBezTo>
                  <a:pt x="7075" y="0"/>
                  <a:pt x="6795" y="0"/>
                  <a:pt x="6423" y="0"/>
                </a:cubicBezTo>
                <a:cubicBezTo>
                  <a:pt x="6051" y="3351"/>
                  <a:pt x="3351" y="6050"/>
                  <a:pt x="94" y="6422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319074" y="294016"/>
            <a:ext cx="8566500" cy="5852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t/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13" name="Google Shape;113;p26"/>
          <p:cNvSpPr/>
          <p:nvPr/>
        </p:nvSpPr>
        <p:spPr>
          <a:xfrm>
            <a:off x="351627" y="4195000"/>
            <a:ext cx="47094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45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14" name="Google Shape;114;p26"/>
          <p:cNvSpPr/>
          <p:nvPr/>
        </p:nvSpPr>
        <p:spPr>
          <a:xfrm>
            <a:off x="319074" y="294016"/>
            <a:ext cx="8566500" cy="34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50"/>
              <a:buFont typeface="Arial"/>
              <a:buNone/>
            </a:pPr>
            <a:r>
              <a:rPr b="1" i="0" lang="en-US" sz="435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Применение ML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50"/>
              <a:buFont typeface="Arial"/>
              <a:buNone/>
            </a:pPr>
            <a:r>
              <a:rPr b="1" i="0" lang="en-US" sz="435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в кибербезопасности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50"/>
              <a:buFont typeface="Arial"/>
              <a:buNone/>
            </a:pPr>
            <a:r>
              <a:rPr b="1" i="0" lang="en-US" sz="4350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Итоговое задание</a:t>
            </a:r>
            <a:endParaRPr/>
          </a:p>
        </p:txBody>
      </p:sp>
      <p:sp>
        <p:nvSpPr>
          <p:cNvPr id="115" name="Google Shape;115;p26"/>
          <p:cNvSpPr/>
          <p:nvPr/>
        </p:nvSpPr>
        <p:spPr>
          <a:xfrm>
            <a:off x="351627" y="4195000"/>
            <a:ext cx="47094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lang="en-US" sz="1425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Антиспам-фильтр: NLP и категории писем</a:t>
            </a:r>
            <a:endParaRPr sz="1425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lang="en-US" sz="1425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Ражнов Андрей · МКБ251 · Индивидуальная работа</a:t>
            </a:r>
            <a:endParaRPr sz="1425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7"/>
          <p:cNvSpPr/>
          <p:nvPr/>
        </p:nvSpPr>
        <p:spPr>
          <a:xfrm>
            <a:off x="8549243" y="4675460"/>
            <a:ext cx="123500" cy="126366"/>
          </a:xfrm>
          <a:custGeom>
            <a:rect b="b" l="l" r="r" t="t"/>
            <a:pathLst>
              <a:path extrusionOk="0" h="14893" w="14893">
                <a:moveTo>
                  <a:pt x="8005" y="0"/>
                </a:moveTo>
                <a:cubicBezTo>
                  <a:pt x="7819" y="0"/>
                  <a:pt x="7632" y="0"/>
                  <a:pt x="7446" y="0"/>
                </a:cubicBezTo>
                <a:cubicBezTo>
                  <a:pt x="3351" y="0"/>
                  <a:pt x="0" y="3258"/>
                  <a:pt x="0" y="7446"/>
                </a:cubicBezTo>
                <a:cubicBezTo>
                  <a:pt x="0" y="11542"/>
                  <a:pt x="3351" y="14892"/>
                  <a:pt x="7446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7074"/>
                  <a:pt x="14799" y="6795"/>
                  <a:pt x="14799" y="6515"/>
                </a:cubicBezTo>
                <a:cubicBezTo>
                  <a:pt x="11262" y="6236"/>
                  <a:pt x="8470" y="3444"/>
                  <a:pt x="8005" y="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7"/>
          <p:cNvSpPr/>
          <p:nvPr/>
        </p:nvSpPr>
        <p:spPr>
          <a:xfrm>
            <a:off x="8549243" y="4536459"/>
            <a:ext cx="123500" cy="126366"/>
          </a:xfrm>
          <a:custGeom>
            <a:rect b="b" l="l" r="r" t="t"/>
            <a:pathLst>
              <a:path extrusionOk="0" h="14893" w="14893">
                <a:moveTo>
                  <a:pt x="14893" y="7447"/>
                </a:moveTo>
                <a:cubicBezTo>
                  <a:pt x="14893" y="3351"/>
                  <a:pt x="11542" y="0"/>
                  <a:pt x="7446" y="0"/>
                </a:cubicBezTo>
                <a:cubicBezTo>
                  <a:pt x="3351" y="0"/>
                  <a:pt x="0" y="3351"/>
                  <a:pt x="0" y="7447"/>
                </a:cubicBezTo>
                <a:cubicBezTo>
                  <a:pt x="0" y="11542"/>
                  <a:pt x="3351" y="14893"/>
                  <a:pt x="7446" y="14893"/>
                </a:cubicBezTo>
                <a:cubicBezTo>
                  <a:pt x="7632" y="14893"/>
                  <a:pt x="7819" y="14893"/>
                  <a:pt x="8005" y="14893"/>
                </a:cubicBezTo>
                <a:cubicBezTo>
                  <a:pt x="8284" y="11170"/>
                  <a:pt x="11169" y="8284"/>
                  <a:pt x="14799" y="8005"/>
                </a:cubicBezTo>
                <a:cubicBezTo>
                  <a:pt x="14799" y="7819"/>
                  <a:pt x="14893" y="7633"/>
                  <a:pt x="14893" y="7447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7"/>
          <p:cNvSpPr/>
          <p:nvPr/>
        </p:nvSpPr>
        <p:spPr>
          <a:xfrm>
            <a:off x="8684311" y="4536459"/>
            <a:ext cx="123508" cy="126366"/>
          </a:xfrm>
          <a:custGeom>
            <a:rect b="b" l="l" r="r" t="t"/>
            <a:pathLst>
              <a:path extrusionOk="0" h="14893" w="14894">
                <a:moveTo>
                  <a:pt x="6516" y="14800"/>
                </a:moveTo>
                <a:cubicBezTo>
                  <a:pt x="6795" y="14893"/>
                  <a:pt x="7075" y="14893"/>
                  <a:pt x="7447" y="14893"/>
                </a:cubicBezTo>
                <a:cubicBezTo>
                  <a:pt x="11542" y="14893"/>
                  <a:pt x="14893" y="11542"/>
                  <a:pt x="14893" y="7447"/>
                </a:cubicBezTo>
                <a:cubicBezTo>
                  <a:pt x="14893" y="3351"/>
                  <a:pt x="11542" y="0"/>
                  <a:pt x="7447" y="0"/>
                </a:cubicBezTo>
                <a:cubicBezTo>
                  <a:pt x="3351" y="0"/>
                  <a:pt x="1" y="3351"/>
                  <a:pt x="1" y="7447"/>
                </a:cubicBezTo>
                <a:cubicBezTo>
                  <a:pt x="1" y="7633"/>
                  <a:pt x="1" y="7819"/>
                  <a:pt x="1" y="8005"/>
                </a:cubicBezTo>
                <a:cubicBezTo>
                  <a:pt x="3538" y="8470"/>
                  <a:pt x="6237" y="11263"/>
                  <a:pt x="6516" y="1480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7"/>
          <p:cNvSpPr/>
          <p:nvPr/>
        </p:nvSpPr>
        <p:spPr>
          <a:xfrm>
            <a:off x="8684311" y="4675460"/>
            <a:ext cx="123508" cy="126366"/>
          </a:xfrm>
          <a:custGeom>
            <a:rect b="b" l="l" r="r" t="t"/>
            <a:pathLst>
              <a:path extrusionOk="0" h="14893" w="14894">
                <a:moveTo>
                  <a:pt x="94" y="6422"/>
                </a:moveTo>
                <a:cubicBezTo>
                  <a:pt x="1" y="6795"/>
                  <a:pt x="1" y="7074"/>
                  <a:pt x="1" y="7446"/>
                </a:cubicBezTo>
                <a:cubicBezTo>
                  <a:pt x="1" y="11542"/>
                  <a:pt x="3351" y="14892"/>
                  <a:pt x="7447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3258"/>
                  <a:pt x="11542" y="0"/>
                  <a:pt x="7447" y="0"/>
                </a:cubicBezTo>
                <a:cubicBezTo>
                  <a:pt x="7075" y="0"/>
                  <a:pt x="6795" y="0"/>
                  <a:pt x="6423" y="0"/>
                </a:cubicBezTo>
                <a:cubicBezTo>
                  <a:pt x="6051" y="3351"/>
                  <a:pt x="3351" y="6050"/>
                  <a:pt x="94" y="6422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7"/>
          <p:cNvSpPr/>
          <p:nvPr/>
        </p:nvSpPr>
        <p:spPr>
          <a:xfrm>
            <a:off x="319074" y="294016"/>
            <a:ext cx="8566500" cy="28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Вводная информация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t/>
            </a:r>
            <a:endParaRPr b="1" i="0" sz="34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t/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t/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38100" marR="0" rtl="0" algn="l">
              <a:lnSpc>
                <a:spcPct val="8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t/>
            </a:r>
            <a:endParaRPr b="1" i="0" sz="17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26" name="Google Shape;126;p27"/>
          <p:cNvSpPr/>
          <p:nvPr/>
        </p:nvSpPr>
        <p:spPr>
          <a:xfrm>
            <a:off x="351627" y="4195000"/>
            <a:ext cx="47094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45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8"/>
          <p:cNvSpPr/>
          <p:nvPr/>
        </p:nvSpPr>
        <p:spPr>
          <a:xfrm>
            <a:off x="358007" y="867750"/>
            <a:ext cx="8430300" cy="39146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8"/>
          <p:cNvSpPr/>
          <p:nvPr/>
        </p:nvSpPr>
        <p:spPr>
          <a:xfrm>
            <a:off x="3484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Цель и результат</a:t>
            </a:r>
            <a:endParaRPr b="1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8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Цель: реализовать полный цикл решения задачи машинного обучения — сбор и обработку данных, обучение, упаковку и публикацию модели.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Основное задание: разработать модель машинного обучения с использованием методов NLP, распознающую спам.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Дополнительное задание: определять категорию текста письма — реклама, предложение работы, знакомства и другие.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Результат проекта: антиспам-модель, классификатор категорий, микросервис Docker + FastAPI и публичное демо.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9"/>
          <p:cNvSpPr/>
          <p:nvPr/>
        </p:nvSpPr>
        <p:spPr>
          <a:xfrm>
            <a:off x="358007" y="867750"/>
            <a:ext cx="8430300" cy="39146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highlight>
                <a:schemeClr val="lt1"/>
              </a:highlight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41" name="Google Shape;141;p29"/>
          <p:cNvSpPr/>
          <p:nvPr/>
        </p:nvSpPr>
        <p:spPr>
          <a:xfrm>
            <a:off x="4246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Роли участников команды*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9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Работа выполнена индивидуально.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Аналитик: постановка задачи, выбор метрик и ограничений.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scientist: подготовка корпусов, сравнение моделей и тестирование.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Инженер: сохранение моделей, FastAPI, Docker и демонстрационная страница.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0"/>
          <p:cNvSpPr/>
          <p:nvPr/>
        </p:nvSpPr>
        <p:spPr>
          <a:xfrm>
            <a:off x="342955" y="257292"/>
            <a:ext cx="85230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19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Роли участников команды </a:t>
            </a:r>
            <a:r>
              <a:rPr b="1" i="0" lang="en-US" sz="20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(продолжение)</a:t>
            </a:r>
            <a:endParaRPr b="1" i="0" sz="20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49" name="Google Shape;149;p30"/>
          <p:cNvSpPr/>
          <p:nvPr/>
        </p:nvSpPr>
        <p:spPr>
          <a:xfrm>
            <a:off x="340725" y="867900"/>
            <a:ext cx="7752300" cy="73478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4999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aphicFrame>
        <p:nvGraphicFramePr>
          <p:cNvPr id="150" name="Google Shape;150;p30"/>
          <p:cNvGraphicFramePr/>
          <p:nvPr/>
        </p:nvGraphicFramePr>
        <p:xfrm>
          <a:off x="678650" y="18195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{1166CBF2-9642-4AC4-8CFD-A4399D60F063}</a:tableStyleId>
              </a:tblPr>
              <a:tblGrid>
                <a:gridCol w="3744125"/>
                <a:gridCol w="3744125"/>
              </a:tblGrid>
              <a:tr h="4528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25"/>
                        <a:buFont typeface="Arial"/>
                        <a:buNone/>
                      </a:pPr>
                      <a:r>
                        <a:rPr lang="en-US" sz="1425" u="none" cap="none" strike="noStrike"/>
                        <a:t>Участник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25"/>
                        <a:buFont typeface="Arial"/>
                        <a:buNone/>
                      </a:pPr>
                      <a:r>
                        <a:rPr lang="en-US" sz="1425" u="none" cap="none" strike="noStrike"/>
                        <a:t>Этап работы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4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25"/>
                        <a:buFont typeface="Arial"/>
                        <a:buNone/>
                      </a:pPr>
                      <a:r>
                        <a:rPr lang="en-US" sz="1425" u="none" cap="none" strike="noStrike"/>
                        <a:t>Ражнов Андрей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25"/>
                        <a:buFont typeface="Arial"/>
                        <a:buNone/>
                      </a:pPr>
                      <a:r>
                        <a:rPr lang="en-US" sz="1425" u="none" cap="none" strike="noStrike"/>
                        <a:t>Постановка задачи и выбор данных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435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25"/>
                        <a:buFont typeface="Arial"/>
                        <a:buNone/>
                      </a:pPr>
                      <a:r>
                        <a:rPr lang="en-US" sz="1425" u="none" cap="none" strike="noStrike"/>
                        <a:t>Ражнов Андрей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25"/>
                        <a:buFont typeface="Arial"/>
                        <a:buNone/>
                      </a:pPr>
                      <a:r>
                        <a:rPr lang="en-US" sz="1425" u="none" cap="none" strike="noStrike"/>
                        <a:t>Очистка, обучение и сравнение моделей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435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25"/>
                        <a:buFont typeface="Arial"/>
                        <a:buNone/>
                      </a:pPr>
                      <a:r>
                        <a:rPr lang="en-US" sz="1425" u="none" cap="none" strike="noStrike"/>
                        <a:t>Ражнов Андрей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25"/>
                        <a:buFont typeface="Arial"/>
                        <a:buNone/>
                      </a:pPr>
                      <a:r>
                        <a:rPr lang="en-US" sz="1425"/>
                        <a:t>Тестирование и анализ ошибок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387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25"/>
                        <a:buFont typeface="Arial"/>
                        <a:buNone/>
                      </a:pPr>
                      <a:r>
                        <a:rPr lang="en-US" sz="1425" u="none" cap="none" strike="noStrike"/>
                        <a:t>Ражнов Андрей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25"/>
                        <a:buFont typeface="Arial"/>
                        <a:buNone/>
                      </a:pPr>
                      <a:r>
                        <a:rPr lang="en-US" sz="1425" u="none" cap="none" strike="noStrike"/>
                        <a:t>Микросервис и презентация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51" name="Google Shape;151;p30"/>
          <p:cNvSpPr/>
          <p:nvPr/>
        </p:nvSpPr>
        <p:spPr>
          <a:xfrm>
            <a:off x="340725" y="867900"/>
            <a:ext cx="7752300" cy="7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b="0" i="0" lang="en-US" sz="1725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Все этапы выполнены одним участником.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1"/>
          <p:cNvSpPr/>
          <p:nvPr/>
        </p:nvSpPr>
        <p:spPr>
          <a:xfrm>
            <a:off x="3484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Регламент выполнения задания</a:t>
            </a:r>
            <a:endParaRPr b="1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31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0. Анализ существующих подходов и постановка задачи.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1. Сбор и обработка данных из нескольких корпусов.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2. Обучение, кросс-валидация, F1 / precision / recall; приоритет — низкий FPR.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3. Упаковка модели в Docker + FastAPI.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4. Публикация модели и демонстрационного интерфейса.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5–6. Презентация по шаблону, проверка доступа и передача ссылки в LMS.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2"/>
          <p:cNvSpPr/>
          <p:nvPr/>
        </p:nvSpPr>
        <p:spPr>
          <a:xfrm>
            <a:off x="8549243" y="4675460"/>
            <a:ext cx="123500" cy="126366"/>
          </a:xfrm>
          <a:custGeom>
            <a:rect b="b" l="l" r="r" t="t"/>
            <a:pathLst>
              <a:path extrusionOk="0" h="14893" w="14893">
                <a:moveTo>
                  <a:pt x="8005" y="0"/>
                </a:moveTo>
                <a:cubicBezTo>
                  <a:pt x="7819" y="0"/>
                  <a:pt x="7632" y="0"/>
                  <a:pt x="7446" y="0"/>
                </a:cubicBezTo>
                <a:cubicBezTo>
                  <a:pt x="3351" y="0"/>
                  <a:pt x="0" y="3258"/>
                  <a:pt x="0" y="7446"/>
                </a:cubicBezTo>
                <a:cubicBezTo>
                  <a:pt x="0" y="11542"/>
                  <a:pt x="3351" y="14892"/>
                  <a:pt x="7446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7074"/>
                  <a:pt x="14799" y="6795"/>
                  <a:pt x="14799" y="6515"/>
                </a:cubicBezTo>
                <a:cubicBezTo>
                  <a:pt x="11262" y="6236"/>
                  <a:pt x="8470" y="3444"/>
                  <a:pt x="8005" y="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2"/>
          <p:cNvSpPr/>
          <p:nvPr/>
        </p:nvSpPr>
        <p:spPr>
          <a:xfrm>
            <a:off x="8549243" y="4536459"/>
            <a:ext cx="123500" cy="126366"/>
          </a:xfrm>
          <a:custGeom>
            <a:rect b="b" l="l" r="r" t="t"/>
            <a:pathLst>
              <a:path extrusionOk="0" h="14893" w="14893">
                <a:moveTo>
                  <a:pt x="14893" y="7447"/>
                </a:moveTo>
                <a:cubicBezTo>
                  <a:pt x="14893" y="3351"/>
                  <a:pt x="11542" y="0"/>
                  <a:pt x="7446" y="0"/>
                </a:cubicBezTo>
                <a:cubicBezTo>
                  <a:pt x="3351" y="0"/>
                  <a:pt x="0" y="3351"/>
                  <a:pt x="0" y="7447"/>
                </a:cubicBezTo>
                <a:cubicBezTo>
                  <a:pt x="0" y="11542"/>
                  <a:pt x="3351" y="14893"/>
                  <a:pt x="7446" y="14893"/>
                </a:cubicBezTo>
                <a:cubicBezTo>
                  <a:pt x="7632" y="14893"/>
                  <a:pt x="7819" y="14893"/>
                  <a:pt x="8005" y="14893"/>
                </a:cubicBezTo>
                <a:cubicBezTo>
                  <a:pt x="8284" y="11170"/>
                  <a:pt x="11169" y="8284"/>
                  <a:pt x="14799" y="8005"/>
                </a:cubicBezTo>
                <a:cubicBezTo>
                  <a:pt x="14799" y="7819"/>
                  <a:pt x="14893" y="7633"/>
                  <a:pt x="14893" y="7447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32"/>
          <p:cNvSpPr/>
          <p:nvPr/>
        </p:nvSpPr>
        <p:spPr>
          <a:xfrm>
            <a:off x="8684311" y="4536459"/>
            <a:ext cx="123508" cy="126366"/>
          </a:xfrm>
          <a:custGeom>
            <a:rect b="b" l="l" r="r" t="t"/>
            <a:pathLst>
              <a:path extrusionOk="0" h="14893" w="14894">
                <a:moveTo>
                  <a:pt x="6516" y="14800"/>
                </a:moveTo>
                <a:cubicBezTo>
                  <a:pt x="6795" y="14893"/>
                  <a:pt x="7075" y="14893"/>
                  <a:pt x="7447" y="14893"/>
                </a:cubicBezTo>
                <a:cubicBezTo>
                  <a:pt x="11542" y="14893"/>
                  <a:pt x="14893" y="11542"/>
                  <a:pt x="14893" y="7447"/>
                </a:cubicBezTo>
                <a:cubicBezTo>
                  <a:pt x="14893" y="3351"/>
                  <a:pt x="11542" y="0"/>
                  <a:pt x="7447" y="0"/>
                </a:cubicBezTo>
                <a:cubicBezTo>
                  <a:pt x="3351" y="0"/>
                  <a:pt x="1" y="3351"/>
                  <a:pt x="1" y="7447"/>
                </a:cubicBezTo>
                <a:cubicBezTo>
                  <a:pt x="1" y="7633"/>
                  <a:pt x="1" y="7819"/>
                  <a:pt x="1" y="8005"/>
                </a:cubicBezTo>
                <a:cubicBezTo>
                  <a:pt x="3538" y="8470"/>
                  <a:pt x="6237" y="11263"/>
                  <a:pt x="6516" y="1480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32"/>
          <p:cNvSpPr/>
          <p:nvPr/>
        </p:nvSpPr>
        <p:spPr>
          <a:xfrm>
            <a:off x="8684311" y="4675460"/>
            <a:ext cx="123508" cy="126366"/>
          </a:xfrm>
          <a:custGeom>
            <a:rect b="b" l="l" r="r" t="t"/>
            <a:pathLst>
              <a:path extrusionOk="0" h="14893" w="14894">
                <a:moveTo>
                  <a:pt x="94" y="6422"/>
                </a:moveTo>
                <a:cubicBezTo>
                  <a:pt x="1" y="6795"/>
                  <a:pt x="1" y="7074"/>
                  <a:pt x="1" y="7446"/>
                </a:cubicBezTo>
                <a:cubicBezTo>
                  <a:pt x="1" y="11542"/>
                  <a:pt x="3351" y="14892"/>
                  <a:pt x="7447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3258"/>
                  <a:pt x="11542" y="0"/>
                  <a:pt x="7447" y="0"/>
                </a:cubicBezTo>
                <a:cubicBezTo>
                  <a:pt x="7075" y="0"/>
                  <a:pt x="6795" y="0"/>
                  <a:pt x="6423" y="0"/>
                </a:cubicBezTo>
                <a:cubicBezTo>
                  <a:pt x="6051" y="3351"/>
                  <a:pt x="3351" y="6050"/>
                  <a:pt x="94" y="6422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32"/>
          <p:cNvSpPr/>
          <p:nvPr/>
        </p:nvSpPr>
        <p:spPr>
          <a:xfrm>
            <a:off x="319074" y="294016"/>
            <a:ext cx="8566500" cy="34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Описание разработки модели ML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t/>
            </a:r>
            <a:endParaRPr b="1" i="0" sz="34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  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t/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38100" marR="0" rtl="0" algn="l">
              <a:lnSpc>
                <a:spcPct val="8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t/>
            </a:r>
            <a:endParaRPr b="1" i="0" sz="17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69" name="Google Shape;169;p32"/>
          <p:cNvSpPr/>
          <p:nvPr/>
        </p:nvSpPr>
        <p:spPr>
          <a:xfrm>
            <a:off x="351627" y="4195000"/>
            <a:ext cx="47094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45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/>
          <p:nvPr/>
        </p:nvSpPr>
        <p:spPr>
          <a:xfrm>
            <a:off x="310509" y="266690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Описание задачи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33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Бизнес-задача: распознавать нежелательную почту, сохраняя важные письма.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ML-задача: бинарная классификация spam / ham методами NLP.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Вход: тема, текст и отправитель. Выход: вероятность спама, решение и категория письма.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Приоритет — низкий FPR; precision, recall и F1 показывают баланс ошибок.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Требование: интерактивный ответ за несколько секунд. Холодный старт хостинга учитывается отдельно.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4"/>
          <p:cNvSpPr/>
          <p:nvPr/>
        </p:nvSpPr>
        <p:spPr>
          <a:xfrm>
            <a:off x="310505" y="355592"/>
            <a:ext cx="85230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19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Результаты анализа существующих решений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4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Apache SpamAssassin объединяет эвристические и статистические проверки заголовков и текста письма, включая байесовскую фильтрацию.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TF-IDF + LR / SVM / ComplementNB — базовые подходы к классификации разреженного текста. Бустинг использует числовые признаки и SVD.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На нашей validation: F1 текстовой LR = 0,98068; стекинга = 0,98204.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Выбран стекинг разных представлений письма. Отдельный вклад групп признаков ещё требует абляции.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5"/>
          <p:cNvSpPr/>
          <p:nvPr/>
        </p:nvSpPr>
        <p:spPr>
          <a:xfrm>
            <a:off x="3484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Описание используемого набора данных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5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Источники: SpamAssassin, Ling-Spam и 25 синтетических транзакционных писем. Данные — тексты и метаданные писем.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Очистка MIME/HTML, нормализация, дедупликация и удаление 1203 совпадений с тестом. Подготовленный пул — 7848 писем.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development 6278: 4944 норма / 1334 спам.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validation 1570: 1237 норма / 333 спам.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test 1545: 590 норма / 955 спам.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SpamBase — числовой набор; его строки в обучении не использованы. Текстовых корпусов два.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6"/>
          <p:cNvSpPr/>
          <p:nvPr/>
        </p:nvSpPr>
        <p:spPr>
          <a:xfrm>
            <a:off x="359730" y="76189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Описание выбранной модели (с обоснованием)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6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TF-IDF слов и символов + 94 признака письма + 50 признаков ссылок → LR / SVM / NB / HistGB → логистическая мета-модель.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5-fold CV на development. Мета-модель обучена на OOF-прогнозах; тест не участвует в выборе порога.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Validation: F1 = 0,98204; precision = 0,97910; recall = 0,98498; FP = 7/1237 (FPR = 0,57%).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Порог 0,710376 выбран по максимуму recall при FPR ≤ 1%. Разные представления дополняют друг друга; вклад отдельных групп ещё не измерен.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7"/>
          <p:cNvSpPr/>
          <p:nvPr/>
        </p:nvSpPr>
        <p:spPr>
          <a:xfrm>
            <a:off x="3484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Результаты эксперимента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7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Тест из задания: 1600 → 1545 писем после дедупликации: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F1 = 0,93878; precision = 0,99184; recall = 0,89110.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TN = 583; FP = 7; FN = 104; TP = 851; FPR = 1,19%.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t/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Исторически новый срез — 342 письма: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F1 = 0,84342; precision = 0,97131; recall = 0,74528.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TN = 17; FP = 7; FN = 81; TP = 237; FPR = 29,17%.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t/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Одна модель и один порог. В срезе всего 24 нормальных письма.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Тест изучался ранее; нужна свежая внешняя проверка.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8"/>
          <p:cNvSpPr/>
          <p:nvPr/>
        </p:nvSpPr>
        <p:spPr>
          <a:xfrm>
            <a:off x="3484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Код экспериментов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38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Репозиторий проекта: </a:t>
            </a:r>
            <a:r>
              <a:rPr lang="en-US" sz="1725" u="sng">
                <a:solidFill>
                  <a:schemeClr val="hlink"/>
                </a:solidFill>
                <a:hlinkClick r:id="rId3"/>
              </a:rPr>
              <a:t>github.com/Andrey123654/antispam-ml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t/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Данные и признаки: src/load_data.py, src/features.py, src/hackathon_adapter.py.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Обучение и оценка: src/adapt_hackathon.py.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Микросервис: service/app.py, Dockerfile.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Тетрадка: reports/Итоговое_задание.ipynb.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t/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Категории: реклама, работа, знакомства, финансы, доставка, безопасность и «прочее».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lang="en-US" sz="1725"/>
              <a:t>Macro-F1 = 0,72248; категории размечены правилами, не экспертами.</a:t>
            </a:r>
            <a:endParaRPr sz="1725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9"/>
          <p:cNvSpPr/>
          <p:nvPr/>
        </p:nvSpPr>
        <p:spPr>
          <a:xfrm>
            <a:off x="348400" y="258226"/>
            <a:ext cx="8523000" cy="4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Proxima Nova"/>
                <a:ea typeface="Proxima Nova"/>
                <a:cs typeface="Proxima Nova"/>
                <a:sym typeface="Proxima Nova"/>
              </a:rPr>
              <a:t>Упаковка модели </a:t>
            </a:r>
            <a:endParaRPr b="1" i="0" sz="28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18" name="Google Shape;218;p39"/>
          <p:cNvSpPr/>
          <p:nvPr/>
        </p:nvSpPr>
        <p:spPr>
          <a:xfrm>
            <a:off x="361950" y="876300"/>
            <a:ext cx="371475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FastAPI: /predict, /predict_batch, /health, /docs.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Веб-форма проверяет текст письма.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Docker v2 собран и проверен.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Порог берётся из артефакта модели.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Модели вынесены в GitHub Releases;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каждая часть проверяется по SHA256.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u="sng">
                <a:solidFill>
                  <a:schemeClr val="hlink"/>
                </a:solidFill>
                <a:hlinkClick r:id="rId3"/>
              </a:rPr>
              <a:t>Публичное демо: открыть сервис Render.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/health и /predict проверены.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/>
          </a:p>
        </p:txBody>
      </p:sp>
      <p:pic>
        <p:nvPicPr>
          <p:cNvPr id="219" name="Google Shape;219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0" y="1452563"/>
            <a:ext cx="4572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0"/>
          <p:cNvSpPr/>
          <p:nvPr/>
        </p:nvSpPr>
        <p:spPr>
          <a:xfrm>
            <a:off x="342955" y="257292"/>
            <a:ext cx="85230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19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Выводы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0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Реализован цикл решения задачи: сбор и обработка данных, обучение, упаковка в Docker + FastAPI и публичная демонстрация.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На полном локальном тесте: F1 = 0,93878; precision = 0,99184; recall = 0,89110. Дополнительно работает модель категорий письма.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FPR на тесте — 1,19%; на сложном срезе — 7 из 24. Автоматического удаления писем нет: решение требует ручного контроля.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/>
              <a:t>Нужны свежий внешний тест, проверка по языкам и абляция групп признаков. Исторические английские корпуса ограничивают применение.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1"/>
          <p:cNvSpPr/>
          <p:nvPr/>
        </p:nvSpPr>
        <p:spPr>
          <a:xfrm>
            <a:off x="342955" y="257292"/>
            <a:ext cx="85230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19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Дополнительные вопросы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1"/>
          <p:cNvSpPr/>
          <p:nvPr/>
        </p:nvSpPr>
        <p:spPr>
          <a:xfrm>
            <a:off x="361950" y="876300"/>
            <a:ext cx="8382000" cy="390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Мультиязычность: собрать экспертно размеченные русские письма; оценивать FPR и recall отдельно по языкам и типам писем.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Concept drift: свежий временной тест, контроль ошибок и повторный выбор порога только на validation.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Дообучение: подтверждённые метки, OOF для мета-модели, группировка кампаний и сохранение нового независимого теста.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/>
              <a:t>Цена FP: важное письмо может быть потеряно. Поэтому решение служит рекомендацией, а письмо автоматически не удаляется.</a:t>
            </a:r>
            <a:endParaRPr sz="165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2"/>
          <p:cNvSpPr/>
          <p:nvPr/>
        </p:nvSpPr>
        <p:spPr>
          <a:xfrm>
            <a:off x="8549243" y="4675460"/>
            <a:ext cx="123500" cy="126366"/>
          </a:xfrm>
          <a:custGeom>
            <a:rect b="b" l="l" r="r" t="t"/>
            <a:pathLst>
              <a:path extrusionOk="0" h="14893" w="14893">
                <a:moveTo>
                  <a:pt x="8005" y="0"/>
                </a:moveTo>
                <a:cubicBezTo>
                  <a:pt x="7819" y="0"/>
                  <a:pt x="7632" y="0"/>
                  <a:pt x="7446" y="0"/>
                </a:cubicBezTo>
                <a:cubicBezTo>
                  <a:pt x="3351" y="0"/>
                  <a:pt x="0" y="3258"/>
                  <a:pt x="0" y="7446"/>
                </a:cubicBezTo>
                <a:cubicBezTo>
                  <a:pt x="0" y="11542"/>
                  <a:pt x="3351" y="14892"/>
                  <a:pt x="7446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7074"/>
                  <a:pt x="14799" y="6795"/>
                  <a:pt x="14799" y="6515"/>
                </a:cubicBezTo>
                <a:cubicBezTo>
                  <a:pt x="11262" y="6236"/>
                  <a:pt x="8470" y="3444"/>
                  <a:pt x="8005" y="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42"/>
          <p:cNvSpPr/>
          <p:nvPr/>
        </p:nvSpPr>
        <p:spPr>
          <a:xfrm>
            <a:off x="8549243" y="4536459"/>
            <a:ext cx="123500" cy="126366"/>
          </a:xfrm>
          <a:custGeom>
            <a:rect b="b" l="l" r="r" t="t"/>
            <a:pathLst>
              <a:path extrusionOk="0" h="14893" w="14893">
                <a:moveTo>
                  <a:pt x="14893" y="7447"/>
                </a:moveTo>
                <a:cubicBezTo>
                  <a:pt x="14893" y="3351"/>
                  <a:pt x="11542" y="0"/>
                  <a:pt x="7446" y="0"/>
                </a:cubicBezTo>
                <a:cubicBezTo>
                  <a:pt x="3351" y="0"/>
                  <a:pt x="0" y="3351"/>
                  <a:pt x="0" y="7447"/>
                </a:cubicBezTo>
                <a:cubicBezTo>
                  <a:pt x="0" y="11542"/>
                  <a:pt x="3351" y="14893"/>
                  <a:pt x="7446" y="14893"/>
                </a:cubicBezTo>
                <a:cubicBezTo>
                  <a:pt x="7632" y="14893"/>
                  <a:pt x="7819" y="14893"/>
                  <a:pt x="8005" y="14893"/>
                </a:cubicBezTo>
                <a:cubicBezTo>
                  <a:pt x="8284" y="11170"/>
                  <a:pt x="11169" y="8284"/>
                  <a:pt x="14799" y="8005"/>
                </a:cubicBezTo>
                <a:cubicBezTo>
                  <a:pt x="14799" y="7819"/>
                  <a:pt x="14893" y="7633"/>
                  <a:pt x="14893" y="7447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2"/>
          <p:cNvSpPr/>
          <p:nvPr/>
        </p:nvSpPr>
        <p:spPr>
          <a:xfrm>
            <a:off x="8684311" y="4536459"/>
            <a:ext cx="123508" cy="126366"/>
          </a:xfrm>
          <a:custGeom>
            <a:rect b="b" l="l" r="r" t="t"/>
            <a:pathLst>
              <a:path extrusionOk="0" h="14893" w="14894">
                <a:moveTo>
                  <a:pt x="6516" y="14800"/>
                </a:moveTo>
                <a:cubicBezTo>
                  <a:pt x="6795" y="14893"/>
                  <a:pt x="7075" y="14893"/>
                  <a:pt x="7447" y="14893"/>
                </a:cubicBezTo>
                <a:cubicBezTo>
                  <a:pt x="11542" y="14893"/>
                  <a:pt x="14893" y="11542"/>
                  <a:pt x="14893" y="7447"/>
                </a:cubicBezTo>
                <a:cubicBezTo>
                  <a:pt x="14893" y="3351"/>
                  <a:pt x="11542" y="0"/>
                  <a:pt x="7447" y="0"/>
                </a:cubicBezTo>
                <a:cubicBezTo>
                  <a:pt x="3351" y="0"/>
                  <a:pt x="1" y="3351"/>
                  <a:pt x="1" y="7447"/>
                </a:cubicBezTo>
                <a:cubicBezTo>
                  <a:pt x="1" y="7633"/>
                  <a:pt x="1" y="7819"/>
                  <a:pt x="1" y="8005"/>
                </a:cubicBezTo>
                <a:cubicBezTo>
                  <a:pt x="3538" y="8470"/>
                  <a:pt x="6237" y="11263"/>
                  <a:pt x="6516" y="14800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2"/>
          <p:cNvSpPr/>
          <p:nvPr/>
        </p:nvSpPr>
        <p:spPr>
          <a:xfrm>
            <a:off x="8684311" y="4675460"/>
            <a:ext cx="123508" cy="126366"/>
          </a:xfrm>
          <a:custGeom>
            <a:rect b="b" l="l" r="r" t="t"/>
            <a:pathLst>
              <a:path extrusionOk="0" h="14893" w="14894">
                <a:moveTo>
                  <a:pt x="94" y="6422"/>
                </a:moveTo>
                <a:cubicBezTo>
                  <a:pt x="1" y="6795"/>
                  <a:pt x="1" y="7074"/>
                  <a:pt x="1" y="7446"/>
                </a:cubicBezTo>
                <a:cubicBezTo>
                  <a:pt x="1" y="11542"/>
                  <a:pt x="3351" y="14892"/>
                  <a:pt x="7447" y="14892"/>
                </a:cubicBezTo>
                <a:cubicBezTo>
                  <a:pt x="11542" y="14892"/>
                  <a:pt x="14893" y="11542"/>
                  <a:pt x="14893" y="7446"/>
                </a:cubicBezTo>
                <a:cubicBezTo>
                  <a:pt x="14893" y="3258"/>
                  <a:pt x="11542" y="0"/>
                  <a:pt x="7447" y="0"/>
                </a:cubicBezTo>
                <a:cubicBezTo>
                  <a:pt x="7075" y="0"/>
                  <a:pt x="6795" y="0"/>
                  <a:pt x="6423" y="0"/>
                </a:cubicBezTo>
                <a:cubicBezTo>
                  <a:pt x="6051" y="3351"/>
                  <a:pt x="3351" y="6050"/>
                  <a:pt x="94" y="6422"/>
                </a:cubicBezTo>
                <a:close/>
              </a:path>
            </a:pathLst>
          </a:custGeom>
          <a:solidFill>
            <a:srgbClr val="F3F4F7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2"/>
          <p:cNvSpPr/>
          <p:nvPr/>
        </p:nvSpPr>
        <p:spPr>
          <a:xfrm>
            <a:off x="319074" y="294016"/>
            <a:ext cx="8566500" cy="5852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t/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44" name="Google Shape;244;p42"/>
          <p:cNvSpPr/>
          <p:nvPr/>
        </p:nvSpPr>
        <p:spPr>
          <a:xfrm>
            <a:off x="319074" y="294016"/>
            <a:ext cx="8566500" cy="16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Спасибо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за внимание!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O_presentation">
  <a:themeElements>
    <a:clrScheme name="PRO_presentation">
      <a:dk1>
        <a:srgbClr val="000000"/>
      </a:dk1>
      <a:lt1>
        <a:srgbClr val="FFFFFF"/>
      </a:lt1>
      <a:dk2>
        <a:srgbClr val="FFFFFF"/>
      </a:dk2>
      <a:lt2>
        <a:srgbClr val="27282D"/>
      </a:lt2>
      <a:accent1>
        <a:srgbClr val="217AFF"/>
      </a:accent1>
      <a:accent2>
        <a:srgbClr val="0066FF"/>
      </a:accent2>
      <a:accent3>
        <a:srgbClr val="4BD0A0"/>
      </a:accent3>
      <a:accent4>
        <a:srgbClr val="DE3773"/>
      </a:accent4>
      <a:accent5>
        <a:srgbClr val="8261EE"/>
      </a:accent5>
      <a:accent6>
        <a:srgbClr val="F3F4F7"/>
      </a:accent6>
      <a:hlink>
        <a:srgbClr val="0066FF"/>
      </a:hlink>
      <a:folHlink>
        <a:srgbClr val="0066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O_presentation">
  <a:themeElements>
    <a:clrScheme name="PRO_presentation">
      <a:dk1>
        <a:srgbClr val="000000"/>
      </a:dk1>
      <a:lt1>
        <a:srgbClr val="FFFFFF"/>
      </a:lt1>
      <a:dk2>
        <a:srgbClr val="FFFFFF"/>
      </a:dk2>
      <a:lt2>
        <a:srgbClr val="27282D"/>
      </a:lt2>
      <a:accent1>
        <a:srgbClr val="217AFF"/>
      </a:accent1>
      <a:accent2>
        <a:srgbClr val="0066FF"/>
      </a:accent2>
      <a:accent3>
        <a:srgbClr val="4BD0A0"/>
      </a:accent3>
      <a:accent4>
        <a:srgbClr val="DE3773"/>
      </a:accent4>
      <a:accent5>
        <a:srgbClr val="8261EE"/>
      </a:accent5>
      <a:accent6>
        <a:srgbClr val="F3F4F7"/>
      </a:accent6>
      <a:hlink>
        <a:srgbClr val="0066FF"/>
      </a:hlink>
      <a:folHlink>
        <a:srgbClr val="0066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